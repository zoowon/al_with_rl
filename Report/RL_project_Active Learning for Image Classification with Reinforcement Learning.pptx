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128" r:id="rId1"/>
  </p:sldMasterIdLst>
  <p:notesMasterIdLst>
    <p:notesMasterId r:id="rId28"/>
  </p:notesMasterIdLst>
  <p:handoutMasterIdLst>
    <p:handoutMasterId r:id="rId29"/>
  </p:handoutMasterIdLst>
  <p:sldIdLst>
    <p:sldId id="298" r:id="rId2"/>
    <p:sldId id="2121" r:id="rId3"/>
    <p:sldId id="2167" r:id="rId4"/>
    <p:sldId id="2161" r:id="rId5"/>
    <p:sldId id="2162" r:id="rId6"/>
    <p:sldId id="2160" r:id="rId7"/>
    <p:sldId id="2159" r:id="rId8"/>
    <p:sldId id="2179" r:id="rId9"/>
    <p:sldId id="2169" r:id="rId10"/>
    <p:sldId id="2152" r:id="rId11"/>
    <p:sldId id="2170" r:id="rId12"/>
    <p:sldId id="2178" r:id="rId13"/>
    <p:sldId id="2164" r:id="rId14"/>
    <p:sldId id="2177" r:id="rId15"/>
    <p:sldId id="2163" r:id="rId16"/>
    <p:sldId id="2176" r:id="rId17"/>
    <p:sldId id="2180" r:id="rId18"/>
    <p:sldId id="2174" r:id="rId19"/>
    <p:sldId id="2181" r:id="rId20"/>
    <p:sldId id="2182" r:id="rId21"/>
    <p:sldId id="2172" r:id="rId22"/>
    <p:sldId id="2149" r:id="rId23"/>
    <p:sldId id="2183" r:id="rId24"/>
    <p:sldId id="2171" r:id="rId25"/>
    <p:sldId id="2147" r:id="rId26"/>
    <p:sldId id="2168" r:id="rId27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" userDrawn="1">
          <p15:clr>
            <a:srgbClr val="A4A3A4"/>
          </p15:clr>
        </p15:guide>
        <p15:guide id="2" pos="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정현" initials="김" lastIdx="1" clrIdx="0">
    <p:extLst>
      <p:ext uri="{19B8F6BF-5375-455C-9EA6-DF929625EA0E}">
        <p15:presenceInfo xmlns:p15="http://schemas.microsoft.com/office/powerpoint/2012/main" userId="S::kjh1119@daegu.ac.kr::68d972fa-a113-4812-9a57-336360563937" providerId="AD"/>
      </p:ext>
    </p:extLst>
  </p:cmAuthor>
  <p:cmAuthor id="2" name="지선 변" initials="지변" lastIdx="1" clrIdx="1">
    <p:extLst>
      <p:ext uri="{19B8F6BF-5375-455C-9EA6-DF929625EA0E}">
        <p15:presenceInfo xmlns:p15="http://schemas.microsoft.com/office/powerpoint/2012/main" userId="a4eee8dd0bf8220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9196BB"/>
    <a:srgbClr val="C61818"/>
    <a:srgbClr val="8CAE47"/>
    <a:srgbClr val="09B356"/>
    <a:srgbClr val="ECF6E3"/>
    <a:srgbClr val="FCFCFC"/>
    <a:srgbClr val="0067BC"/>
    <a:srgbClr val="FF040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97" autoAdjust="0"/>
    <p:restoredTop sz="85439" autoAdjust="0"/>
  </p:normalViewPr>
  <p:slideViewPr>
    <p:cSldViewPr showGuides="1">
      <p:cViewPr>
        <p:scale>
          <a:sx n="125" d="100"/>
          <a:sy n="125" d="100"/>
        </p:scale>
        <p:origin x="3926" y="1205"/>
      </p:cViewPr>
      <p:guideLst>
        <p:guide orient="horz" pos="28"/>
        <p:guide pos="35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9" d="100"/>
          <a:sy n="79" d="100"/>
        </p:scale>
        <p:origin x="4038" y="114"/>
      </p:cViewPr>
      <p:guideLst>
        <p:guide orient="horz" pos="3127"/>
        <p:guide pos="2141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7F419-E006-4DB8-A7BA-E5A38E23399F}" type="datetimeFigureOut">
              <a:rPr lang="ko-KR" altLang="en-US" smtClean="0"/>
              <a:t>2025-12-07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979930-7D13-4CAB-BEDE-20672B9ACB7F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77795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DF3202F-C10C-44DA-B970-F5FD30CDB9C5}" type="datetimeFigureOut">
              <a:rPr lang="ko-KR" altLang="en-US"/>
              <a:pPr>
                <a:defRPr/>
              </a:pPr>
              <a:t>2025-12-07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237B50D-B966-4629-A4D8-890239F633CB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184185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065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7200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37B50D-B966-4629-A4D8-890239F633CB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32779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37B50D-B966-4629-A4D8-890239F633CB}" type="slidenum">
              <a:rPr lang="ko-KR" altLang="en-US" smtClean="0"/>
              <a:pPr>
                <a:defRPr/>
              </a:pPr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0117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37B50D-B966-4629-A4D8-890239F633CB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8982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개체 틀 10"/>
          <p:cNvSpPr>
            <a:spLocks noGrp="1"/>
          </p:cNvSpPr>
          <p:nvPr>
            <p:ph type="title"/>
          </p:nvPr>
        </p:nvSpPr>
        <p:spPr bwMode="auto">
          <a:xfrm>
            <a:off x="200340" y="116540"/>
            <a:ext cx="842517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텍스트 개체 틀 1"/>
          <p:cNvSpPr>
            <a:spLocks noGrp="1"/>
          </p:cNvSpPr>
          <p:nvPr>
            <p:ph idx="17" hasCustomPrompt="1"/>
          </p:nvPr>
        </p:nvSpPr>
        <p:spPr>
          <a:xfrm>
            <a:off x="342000" y="836640"/>
            <a:ext cx="9216000" cy="5616780"/>
          </a:xfrm>
          <a:prstGeom prst="rect">
            <a:avLst/>
          </a:prstGeom>
        </p:spPr>
        <p:txBody>
          <a:bodyPr rtlCol="0">
            <a:normAutofit/>
          </a:bodyPr>
          <a:lstStyle>
            <a:lvl1pPr latinLnBrk="0">
              <a:lnSpc>
                <a:spcPct val="120000"/>
              </a:lnSpc>
              <a:defRPr sz="1800">
                <a:latin typeface="+mn-ea"/>
                <a:ea typeface="+mn-ea"/>
                <a:cs typeface="Arial" panose="020B0604020202020204" pitchFamily="34" charset="0"/>
              </a:defRPr>
            </a:lvl1pPr>
            <a:lvl2pPr latinLnBrk="0">
              <a:lnSpc>
                <a:spcPct val="120000"/>
              </a:lnSpc>
              <a:defRPr sz="1600">
                <a:latin typeface="+mn-ea"/>
                <a:ea typeface="+mn-ea"/>
                <a:cs typeface="Arial" panose="020B0604020202020204" pitchFamily="34" charset="0"/>
              </a:defRPr>
            </a:lvl2pPr>
            <a:lvl3pPr latinLnBrk="0">
              <a:lnSpc>
                <a:spcPct val="120000"/>
              </a:lnSpc>
              <a:defRPr sz="1600">
                <a:latin typeface="+mn-ea"/>
                <a:ea typeface="+mn-ea"/>
                <a:cs typeface="Arial" panose="020B0604020202020204" pitchFamily="34" charset="0"/>
              </a:defRPr>
            </a:lvl3pPr>
            <a:lvl4pPr latinLnBrk="0">
              <a:lnSpc>
                <a:spcPct val="120000"/>
              </a:lnSpc>
              <a:defRPr sz="1600">
                <a:latin typeface="+mn-ea"/>
                <a:ea typeface="+mn-ea"/>
                <a:cs typeface="Arial" panose="020B0604020202020204" pitchFamily="34" charset="0"/>
              </a:defRPr>
            </a:lvl4pPr>
            <a:lvl5pPr latinLnBrk="0">
              <a:lnSpc>
                <a:spcPct val="120000"/>
              </a:lnSpc>
              <a:defRPr lang="en-US" altLang="ko-KR" sz="1400" kern="1200" dirty="0" smtClean="0">
                <a:solidFill>
                  <a:schemeClr val="tx1"/>
                </a:solidFill>
                <a:latin typeface="+mn-ea"/>
                <a:ea typeface="+mn-ea"/>
                <a:cs typeface="Arial" panose="020B0604020202020204" pitchFamily="34" charset="0"/>
              </a:defRPr>
            </a:lvl5pPr>
            <a:lvl6pPr marL="720000" latinLnBrk="0">
              <a:defRPr sz="1400">
                <a:latin typeface="+mn-ea"/>
                <a:ea typeface="+mn-ea"/>
              </a:defRPr>
            </a:lvl6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 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  <a:p>
            <a:pPr lvl="5"/>
            <a:endParaRPr lang="ko-KR" altLang="en-US" dirty="0"/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0" y="620610"/>
            <a:ext cx="990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573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5710F0C-9F76-0012-70B1-14A8AB0C9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525" y="1678495"/>
            <a:ext cx="7056980" cy="203854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algn="ctr">
              <a:defRPr kumimoji="1" lang="ko-KR" altLang="en-US" sz="4000" baseline="0">
                <a:solidFill>
                  <a:schemeClr val="tx1"/>
                </a:solidFill>
                <a:latin typeface="+mj-ea"/>
                <a:ea typeface="+mj-ea"/>
                <a:cs typeface="Tahoma" panose="020B0604030504040204" pitchFamily="34" charset="0"/>
              </a:defRPr>
            </a:lvl1pPr>
          </a:lstStyle>
          <a:p>
            <a:pPr lvl="0"/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91356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0" y="620610"/>
            <a:ext cx="9906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905A74E5-BEFE-83EA-146D-938E3646900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12456" y="6530517"/>
            <a:ext cx="1081088" cy="210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+mn-lt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176768D4-B231-4423-89D0-B0CB0B4D32DF}" type="slidenum">
              <a:rPr lang="en-US" altLang="ko-KR" sz="1050" kern="1200" smtClean="0">
                <a:solidFill>
                  <a:schemeClr val="tx1"/>
                </a:solidFill>
                <a:latin typeface="Tahoma"/>
                <a:ea typeface="LG스마트체2.0 Regular" panose="020B0600000101010101" pitchFamily="50" charset="-127"/>
                <a:cs typeface="+mn-cs"/>
              </a:rPr>
              <a:t>‹#›</a:t>
            </a:fld>
            <a:endParaRPr lang="en-US" altLang="ko-KR" sz="1050" kern="1200" dirty="0">
              <a:solidFill>
                <a:schemeClr val="tx1"/>
              </a:solidFill>
              <a:latin typeface="Tahoma"/>
              <a:ea typeface="LG스마트체2.0 Regular" panose="020B0600000101010101" pitchFamily="50" charset="-127"/>
              <a:cs typeface="+mn-cs"/>
            </a:endParaRPr>
          </a:p>
        </p:txBody>
      </p:sp>
      <p:sp>
        <p:nvSpPr>
          <p:cNvPr id="2" name="Text Box 19">
            <a:extLst>
              <a:ext uri="{FF2B5EF4-FFF2-40B4-BE49-F238E27FC236}">
                <a16:creationId xmlns:a16="http://schemas.microsoft.com/office/drawing/2014/main" id="{277A8656-37F7-3B96-6A82-CA0CAF8051B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697690"/>
            <a:ext cx="1299518" cy="160310"/>
          </a:xfrm>
          <a:prstGeom prst="rect">
            <a:avLst/>
          </a:prstGeom>
          <a:noFill/>
          <a:ln>
            <a:noFill/>
          </a:ln>
        </p:spPr>
        <p:txBody>
          <a:bodyPr wrap="none" lIns="18000" tIns="10800" rIns="18000" bIns="10800" anchor="ctr" anchorCtr="1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cs"/>
              </a:rPr>
              <a:t>Dept. CSE, Sogang Univ.</a:t>
            </a:r>
            <a:endParaRPr lang="en-US" altLang="ko-KR" sz="9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4" name="그림 3" descr="카민, 상징, 레드, 교통 표지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FE12C6-0026-B10C-52C2-C77E8C5D921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394" y="6613396"/>
            <a:ext cx="624468" cy="21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345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0" r:id="rId1"/>
    <p:sldLayoutId id="2147484141" r:id="rId2"/>
  </p:sldLayoutIdLst>
  <p:hf sldNum="0"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lang="ko-KR" altLang="en-US" sz="2000" b="1" kern="1200" baseline="0">
          <a:solidFill>
            <a:schemeClr val="bg1"/>
          </a:solidFill>
          <a:latin typeface="Arial" pitchFamily="34" charset="0"/>
          <a:ea typeface="돋움" pitchFamily="50" charset="-127"/>
          <a:cs typeface="Arial" pitchFamily="34" charset="0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Arial" charset="0"/>
          <a:ea typeface="돋움" pitchFamily="50" charset="-127"/>
          <a:cs typeface="Arial" charset="0"/>
        </a:defRPr>
      </a:lvl9pPr>
    </p:titleStyle>
    <p:bodyStyle>
      <a:lvl1pPr marL="174625" indent="-174625" algn="l" rtl="0" eaLnBrk="1" fontAlgn="base" latinLnBrk="1" hangingPunct="1">
        <a:spcBef>
          <a:spcPct val="20000"/>
        </a:spcBef>
        <a:spcAft>
          <a:spcPct val="0"/>
        </a:spcAft>
        <a:buFont typeface="Wingdings" pitchFamily="2" charset="2"/>
        <a:buChar char="§"/>
        <a:defRPr lang="ko-KR" altLang="en-US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192088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AutoNum type="arabicPeriod"/>
        <a:tabLst>
          <a:tab pos="93663" algn="l"/>
        </a:tabLst>
        <a:defRPr lang="ko-KR" alt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363538" indent="-188913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•"/>
        <a:tabLst>
          <a:tab pos="174625" algn="l"/>
        </a:tabLst>
        <a:defRPr lang="ko-KR" alt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444500" indent="-174625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–"/>
        <a:tabLst>
          <a:tab pos="268288" algn="l"/>
        </a:tabLst>
        <a:defRPr lang="ko-KR" altLang="en-US" sz="12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538163" indent="-174625" algn="l" rtl="0" eaLnBrk="1" fontAlgn="base" latinLnBrk="1" hangingPunct="1">
        <a:spcBef>
          <a:spcPct val="20000"/>
        </a:spcBef>
        <a:spcAft>
          <a:spcPct val="0"/>
        </a:spcAft>
        <a:buFont typeface="Arial" charset="0"/>
        <a:buChar char="»"/>
        <a:tabLst>
          <a:tab pos="363538" algn="l"/>
        </a:tabLst>
        <a:defRPr lang="ko-KR" alt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rive.google.com/drive/folders/1XTuVJQ7raXbRQ53PB5zzwCeDJwUx--2x?usp=drive_link" TargetMode="External"/><Relationship Id="rId4" Type="http://schemas.openxmlformats.org/officeDocument/2006/relationships/hyperlink" Target="https://github.com/zoowon/AL_with_R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5.png"/><Relationship Id="rId5" Type="http://schemas.openxmlformats.org/officeDocument/2006/relationships/image" Target="../media/image11.pn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6" name="WordArt 4"/>
          <p:cNvSpPr>
            <a:spLocks noChangeArrowheads="1" noChangeShapeType="1" noTextEdit="1"/>
          </p:cNvSpPr>
          <p:nvPr/>
        </p:nvSpPr>
        <p:spPr bwMode="auto">
          <a:xfrm>
            <a:off x="1856656" y="1628800"/>
            <a:ext cx="6192688" cy="7620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lnSpc>
                <a:spcPct val="130000"/>
              </a:lnSpc>
              <a:defRPr/>
            </a:pPr>
            <a:endParaRPr lang="ko-KR" altLang="en-US" sz="6600" b="1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FFFF"/>
              </a:solidFill>
              <a:latin typeface="LG스마트체2.0 Bold" panose="020B0600000101010101" pitchFamily="50" charset="-127"/>
              <a:ea typeface="LG스마트체2.0 Bold" panose="020B060000010101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2288" y="958395"/>
            <a:ext cx="8471454" cy="2038545"/>
          </a:xfrm>
          <a:prstGeom prst="rect">
            <a:avLst/>
          </a:prstGeom>
        </p:spPr>
        <p:txBody>
          <a:bodyPr/>
          <a:lstStyle/>
          <a:p>
            <a:r>
              <a:rPr lang="en-US" altLang="ko-KR" sz="2400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[2025-2 </a:t>
            </a:r>
            <a:r>
              <a:rPr lang="ko-KR" altLang="en-US" sz="2400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강화학습 프로젝트</a:t>
            </a:r>
            <a:r>
              <a:rPr lang="en-US" altLang="ko-KR" sz="2400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]</a:t>
            </a:r>
            <a:br>
              <a:rPr lang="en-US" altLang="ko-KR" sz="2400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</a:br>
            <a:r>
              <a:rPr lang="en-US" altLang="ko-KR" sz="2400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Active Learning</a:t>
            </a:r>
            <a:r>
              <a:rPr lang="en-US" altLang="ko-KR" sz="2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for Image Classification </a:t>
            </a:r>
            <a:br>
              <a:rPr lang="en-US" altLang="ko-KR" sz="2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</a:br>
            <a:r>
              <a:rPr lang="en-US" altLang="ko-KR" sz="2400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with </a:t>
            </a:r>
            <a:r>
              <a:rPr lang="en-US" altLang="ko-KR" sz="2400" dirty="0">
                <a:solidFill>
                  <a:schemeClr val="tx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Reinforcement Learning</a:t>
            </a:r>
            <a:endParaRPr lang="ko-KR" altLang="en-US" sz="2400" dirty="0">
              <a:solidFill>
                <a:schemeClr val="tx1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44324DE-B94C-0963-C232-5E565156C33E}"/>
              </a:ext>
            </a:extLst>
          </p:cNvPr>
          <p:cNvCxnSpPr/>
          <p:nvPr/>
        </p:nvCxnSpPr>
        <p:spPr>
          <a:xfrm>
            <a:off x="732288" y="2636890"/>
            <a:ext cx="8462689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텍스트 개체 틀 3">
            <a:extLst>
              <a:ext uri="{FF2B5EF4-FFF2-40B4-BE49-F238E27FC236}">
                <a16:creationId xmlns:a16="http://schemas.microsoft.com/office/drawing/2014/main" id="{9231914C-261A-735B-8A82-E99302F0BA40}"/>
              </a:ext>
            </a:extLst>
          </p:cNvPr>
          <p:cNvSpPr txBox="1">
            <a:spLocks/>
          </p:cNvSpPr>
          <p:nvPr/>
        </p:nvSpPr>
        <p:spPr>
          <a:xfrm>
            <a:off x="2762085" y="3747359"/>
            <a:ext cx="4381830" cy="1625910"/>
          </a:xfrm>
          <a:prstGeom prst="rect">
            <a:avLst/>
          </a:prstGeom>
        </p:spPr>
        <p:txBody>
          <a:bodyPr>
            <a:normAutofit/>
          </a:bodyPr>
          <a:lstStyle>
            <a:lvl1pPr marL="174625" indent="-174625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lang="ko-KR" alt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192088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AutoNum type="arabicPeriod"/>
              <a:tabLst>
                <a:tab pos="93663" algn="l"/>
              </a:tabLst>
              <a:def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3538" indent="-188913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tabLst>
                <a:tab pos="174625" algn="l"/>
              </a:tabLst>
              <a:def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44500" indent="-174625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tabLst>
                <a:tab pos="268288" algn="l"/>
              </a:tabLst>
              <a:def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8163" indent="-174625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363538" algn="l"/>
              </a:tabLst>
              <a:def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20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박윤서 </a:t>
            </a:r>
            <a:r>
              <a:rPr lang="en-US" altLang="ko-KR" sz="20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(120250650)</a:t>
            </a:r>
            <a:br>
              <a:rPr lang="en-US" altLang="ko-KR" sz="20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</a:br>
            <a:r>
              <a:rPr lang="ko-KR" altLang="en-US" sz="20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박주원 </a:t>
            </a:r>
            <a:r>
              <a:rPr lang="en-US" altLang="ko-KR" sz="20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(120250651)</a:t>
            </a:r>
            <a:endParaRPr kumimoji="0" lang="en-US" altLang="ko-KR" sz="2000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C01A81-5DC9-9C4B-0370-C02A29E8D923}"/>
              </a:ext>
            </a:extLst>
          </p:cNvPr>
          <p:cNvSpPr txBox="1">
            <a:spLocks/>
          </p:cNvSpPr>
          <p:nvPr/>
        </p:nvSpPr>
        <p:spPr>
          <a:xfrm>
            <a:off x="2324635" y="5517290"/>
            <a:ext cx="5256730" cy="648090"/>
          </a:xfrm>
          <a:prstGeom prst="rect">
            <a:avLst/>
          </a:prstGeom>
        </p:spPr>
        <p:txBody>
          <a:bodyPr/>
          <a:lstStyle>
            <a:lvl1pPr marL="174625" indent="-174625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lang="ko-KR" alt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192088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AutoNum type="arabicPeriod"/>
              <a:tabLst>
                <a:tab pos="93663" algn="l"/>
              </a:tabLst>
              <a:def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3538" indent="-188913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tabLst>
                <a:tab pos="174625" algn="l"/>
              </a:tabLst>
              <a:def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44500" indent="-174625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tabLst>
                <a:tab pos="268288" algn="l"/>
              </a:tabLst>
              <a:def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8163" indent="-174625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tabLst>
                <a:tab pos="363538" algn="l"/>
              </a:tabLst>
              <a:defRPr lang="ko-KR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Department of Computer Science and Engineering</a:t>
            </a:r>
          </a:p>
          <a:p>
            <a:pPr marL="0" indent="0" algn="ctr">
              <a:buNone/>
            </a:pPr>
            <a:r>
              <a:rPr lang="en-US" altLang="ko-KR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 panose="020B0604020202020204" pitchFamily="34" charset="0"/>
              </a:rPr>
              <a:t>Sogang University</a:t>
            </a:r>
            <a:endParaRPr lang="en-US" altLang="en-US" b="1" dirty="0"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 panose="020B0604020202020204" pitchFamily="34" charset="0"/>
            </a:endParaRPr>
          </a:p>
        </p:txBody>
      </p:sp>
      <p:pic>
        <p:nvPicPr>
          <p:cNvPr id="8" name="그림 7" descr="카민, 상징, 레드, 교통 표지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B8BC0F-1EB3-79E7-5BE7-4FD77A56B5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394" y="6613396"/>
            <a:ext cx="624468" cy="2184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EBFB6-C5C9-CD52-9D25-0E5DC61E8B81}"/>
              </a:ext>
            </a:extLst>
          </p:cNvPr>
          <p:cNvSpPr txBox="1"/>
          <p:nvPr/>
        </p:nvSpPr>
        <p:spPr>
          <a:xfrm>
            <a:off x="312146" y="2823315"/>
            <a:ext cx="92817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ctr">
              <a:buNone/>
            </a:pPr>
            <a:r>
              <a:rPr lang="en-US" sz="1200" b="1" dirty="0" err="1">
                <a:latin typeface="+mj-lt"/>
                <a:ea typeface="+mn-ea"/>
                <a:cs typeface="Arial" pitchFamily="34" charset="0"/>
              </a:rPr>
              <a:t>Github</a:t>
            </a:r>
            <a:r>
              <a:rPr lang="en-US" sz="1200" b="1" dirty="0">
                <a:latin typeface="+mj-lt"/>
                <a:ea typeface="+mn-ea"/>
                <a:cs typeface="Arial" pitchFamily="34" charset="0"/>
              </a:rPr>
              <a:t> link: </a:t>
            </a:r>
            <a:r>
              <a:rPr lang="en-US" altLang="ko-KR" sz="1200" b="1" dirty="0">
                <a:latin typeface="+mj-lt"/>
                <a:cs typeface="Arial" pitchFamily="34" charset="0"/>
                <a:hlinkClick r:id="rId4"/>
              </a:rPr>
              <a:t>https://github.com/zoowon/AL_with_RL</a:t>
            </a:r>
            <a:endParaRPr lang="en-US" sz="1200" b="1" dirty="0">
              <a:latin typeface="+mj-lt"/>
              <a:ea typeface="+mn-ea"/>
              <a:cs typeface="Arial" pitchFamily="34" charset="0"/>
            </a:endParaRPr>
          </a:p>
          <a:p>
            <a:r>
              <a:rPr lang="en-US" sz="1200" b="1" dirty="0">
                <a:latin typeface="+mj-lt"/>
                <a:ea typeface="+mn-ea"/>
                <a:cs typeface="Arial" pitchFamily="34" charset="0"/>
              </a:rPr>
              <a:t>Google drive link: </a:t>
            </a:r>
            <a:r>
              <a:rPr lang="en-US" sz="1200" b="1" dirty="0">
                <a:latin typeface="+mj-lt"/>
                <a:ea typeface="+mn-ea"/>
                <a:cs typeface="Arial" pitchFamily="34" charset="0"/>
                <a:hlinkClick r:id="rId5"/>
              </a:rPr>
              <a:t>https://drive.google.com/drive/folders/1XTuVJQ7raXbRQ53PB5zzwCeDJwUx--2x?usp=drive_link</a:t>
            </a:r>
            <a:r>
              <a:rPr lang="en-US" sz="1200" b="1" dirty="0">
                <a:latin typeface="+mj-lt"/>
                <a:ea typeface="+mn-ea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7177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26020-3727-6E74-BCC8-90DB7A25F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B3F04D-DD08-82B1-1388-837769CFB737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+mn-ea"/>
                <a:ea typeface="+mn-ea"/>
              </a:rPr>
              <a:t>프로젝트 주제 및 목표</a:t>
            </a:r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  <a:p>
            <a:r>
              <a:rPr lang="ko-KR" altLang="en-US" dirty="0"/>
              <a:t>환경 및 데이터셋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>
                <a:latin typeface="+mn-ea"/>
                <a:ea typeface="+mn-ea"/>
              </a:rPr>
              <a:t>강화학습 알고리즘</a:t>
            </a:r>
            <a:endParaRPr lang="en-US" altLang="ko-KR" dirty="0">
              <a:latin typeface="+mn-ea"/>
              <a:ea typeface="+mn-ea"/>
            </a:endParaRPr>
          </a:p>
          <a:p>
            <a:endParaRPr lang="en-US" altLang="ko-KR" dirty="0"/>
          </a:p>
          <a:p>
            <a:r>
              <a:rPr lang="ko-KR" altLang="en-US" dirty="0">
                <a:latin typeface="+mn-ea"/>
                <a:ea typeface="+mn-ea"/>
              </a:rPr>
              <a:t>실험 셋업</a:t>
            </a:r>
            <a:endParaRPr lang="en-US" altLang="ko-KR" dirty="0">
              <a:latin typeface="+mn-ea"/>
              <a:ea typeface="+mn-ea"/>
            </a:endParaRPr>
          </a:p>
          <a:p>
            <a:endParaRPr lang="en-US" altLang="ko-KR" dirty="0">
              <a:latin typeface="+mn-ea"/>
              <a:ea typeface="+mn-ea"/>
            </a:endParaRPr>
          </a:p>
          <a:p>
            <a:r>
              <a:rPr lang="ko-KR" altLang="en-US" dirty="0"/>
              <a:t>실험 결과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토의 및 결론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15361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E759E-7609-036F-5BF5-172D314D8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22C32A-07E1-7ADA-C78F-05CB4D6F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주제 및 목표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5F902B-7AA0-62A8-366A-44E35AA4D214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ko-KR" altLang="en-US" dirty="0"/>
              <a:t>주제 </a:t>
            </a:r>
            <a:r>
              <a:rPr lang="en-US" altLang="ko-KR" dirty="0"/>
              <a:t>: </a:t>
            </a:r>
            <a:r>
              <a:rPr lang="ko-KR" altLang="en-US" dirty="0"/>
              <a:t>강화학습을 이용한 이미지 분류에서의 능동학습 </a:t>
            </a:r>
            <a:r>
              <a:rPr lang="en-US" altLang="ko-KR" dirty="0"/>
              <a:t>(active learning)</a:t>
            </a:r>
          </a:p>
          <a:p>
            <a:pPr lvl="1"/>
            <a:r>
              <a:rPr lang="ko-KR" altLang="en-US" dirty="0"/>
              <a:t>주제 선정 과정</a:t>
            </a:r>
            <a:endParaRPr lang="en-US" altLang="ko-KR" dirty="0"/>
          </a:p>
          <a:p>
            <a:pPr lvl="2"/>
            <a:r>
              <a:rPr lang="ko-KR" altLang="en-US" dirty="0"/>
              <a:t>팀원들의 주 연구 분야인 </a:t>
            </a:r>
            <a:r>
              <a:rPr lang="en-US" altLang="ko-KR" b="1" u="sng" dirty="0"/>
              <a:t>computer vision</a:t>
            </a:r>
            <a:r>
              <a:rPr lang="en-US" altLang="ko-KR" b="1" dirty="0"/>
              <a:t> </a:t>
            </a:r>
            <a:r>
              <a:rPr lang="ko-KR" altLang="en-US" dirty="0"/>
              <a:t>이라는 큰 틀 안에서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b="1" u="sng" dirty="0"/>
              <a:t>강화학습의 프레임워크를 적용</a:t>
            </a:r>
            <a:r>
              <a:rPr lang="ko-KR" altLang="en-US" dirty="0"/>
              <a:t>할 수 있는 </a:t>
            </a:r>
            <a:r>
              <a:rPr lang="en-US" altLang="ko-KR" dirty="0"/>
              <a:t>task</a:t>
            </a:r>
            <a:r>
              <a:rPr lang="ko-KR" altLang="en-US" dirty="0"/>
              <a:t>에 대한 탐색을 진행</a:t>
            </a:r>
            <a:endParaRPr lang="en-US" altLang="ko-KR" dirty="0"/>
          </a:p>
          <a:p>
            <a:pPr lvl="2"/>
            <a:r>
              <a:rPr lang="ko-KR" altLang="en-US" dirty="0"/>
              <a:t>기존에 진행했던 연구</a:t>
            </a:r>
            <a:r>
              <a:rPr lang="en-US" altLang="ko-KR" dirty="0"/>
              <a:t>*</a:t>
            </a:r>
            <a:r>
              <a:rPr lang="ko-KR" altLang="en-US" dirty="0"/>
              <a:t>인 </a:t>
            </a:r>
            <a:r>
              <a:rPr lang="en-US" altLang="ko-KR" dirty="0"/>
              <a:t>active learning task</a:t>
            </a:r>
            <a:r>
              <a:rPr lang="ko-KR" altLang="en-US" dirty="0"/>
              <a:t>에서 사용하는 </a:t>
            </a:r>
            <a:r>
              <a:rPr lang="en-US" altLang="ko-KR" b="1" dirty="0">
                <a:solidFill>
                  <a:srgbClr val="FF0000"/>
                </a:solidFill>
              </a:rPr>
              <a:t>sampling (querying) </a:t>
            </a:r>
            <a:r>
              <a:rPr lang="ko-KR" altLang="en-US" b="1" dirty="0">
                <a:solidFill>
                  <a:srgbClr val="FF0000"/>
                </a:solidFill>
              </a:rPr>
              <a:t>기법</a:t>
            </a:r>
            <a:r>
              <a:rPr lang="ko-KR" altLang="en-US" dirty="0"/>
              <a:t>을 하나의 </a:t>
            </a:r>
            <a:r>
              <a:rPr lang="en-US" altLang="ko-KR" dirty="0"/>
              <a:t>action</a:t>
            </a:r>
            <a:r>
              <a:rPr lang="ko-KR" altLang="en-US" dirty="0"/>
              <a:t>으로 봤을 때</a:t>
            </a:r>
            <a:r>
              <a:rPr lang="en-US" altLang="ko-KR" dirty="0"/>
              <a:t>,</a:t>
            </a:r>
            <a:r>
              <a:rPr lang="ko-KR" altLang="en-US" dirty="0"/>
              <a:t> 강화학습 프레임워크를 적용할 수 있다고 판단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DEF1E7-B606-017C-CD2C-3974266B9045}"/>
              </a:ext>
            </a:extLst>
          </p:cNvPr>
          <p:cNvSpPr txBox="1"/>
          <p:nvPr/>
        </p:nvSpPr>
        <p:spPr>
          <a:xfrm>
            <a:off x="0" y="6237976"/>
            <a:ext cx="990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* </a:t>
            </a:r>
            <a:r>
              <a:rPr lang="ko-KR" altLang="en-US" sz="800" dirty="0">
                <a:latin typeface="+mn-ea"/>
                <a:ea typeface="+mn-ea"/>
              </a:rPr>
              <a:t>박주원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박재현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전주현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조성인</a:t>
            </a:r>
            <a:r>
              <a:rPr lang="en-US" altLang="ko-KR" sz="800" dirty="0">
                <a:latin typeface="+mn-ea"/>
                <a:ea typeface="+mn-ea"/>
              </a:rPr>
              <a:t>, "</a:t>
            </a:r>
            <a:r>
              <a:rPr lang="ko-KR" altLang="en-US" sz="800" dirty="0">
                <a:latin typeface="+mn-ea"/>
                <a:ea typeface="+mn-ea"/>
              </a:rPr>
              <a:t>객체 탐지에서의 액티브 러닝 기술 동향 분석</a:t>
            </a:r>
            <a:r>
              <a:rPr lang="en-US" altLang="ko-KR" sz="800" dirty="0">
                <a:latin typeface="+mn-ea"/>
                <a:ea typeface="+mn-ea"/>
              </a:rPr>
              <a:t>," </a:t>
            </a:r>
            <a:r>
              <a:rPr lang="ko-KR" altLang="en-US" sz="800" dirty="0">
                <a:latin typeface="+mn-ea"/>
                <a:ea typeface="+mn-ea"/>
              </a:rPr>
              <a:t>대한전자공학회 학술대회</a:t>
            </a:r>
            <a:r>
              <a:rPr lang="en-US" altLang="ko-KR" sz="800" dirty="0">
                <a:latin typeface="+mn-ea"/>
                <a:ea typeface="+mn-ea"/>
              </a:rPr>
              <a:t>, 2024, pp. 1433-1437.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9C3BC9C-047E-F078-09B7-87FC2A80BE1E}"/>
              </a:ext>
            </a:extLst>
          </p:cNvPr>
          <p:cNvSpPr txBox="1"/>
          <p:nvPr/>
        </p:nvSpPr>
        <p:spPr>
          <a:xfrm>
            <a:off x="3524770" y="5647057"/>
            <a:ext cx="28504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&lt;Active</a:t>
            </a:r>
            <a:r>
              <a:rPr lang="ko-KR" altLang="en-US" sz="120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learning</a:t>
            </a:r>
            <a:r>
              <a:rPr lang="ko-KR" altLang="en-US" sz="120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의 전체적인 진행 과정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&gt;</a:t>
            </a:r>
            <a:endParaRPr lang="ko-KR" altLang="en-US" sz="1200" dirty="0">
              <a:solidFill>
                <a:prstClr val="black"/>
              </a:solidFill>
              <a:latin typeface="+mn-ea"/>
              <a:ea typeface="+mn-ea"/>
              <a:cs typeface="Arial" pitchFamily="34" charset="0"/>
            </a:endParaRP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3AE14C97-4E66-644B-51ED-3187D4B82FA5}"/>
              </a:ext>
            </a:extLst>
          </p:cNvPr>
          <p:cNvGrpSpPr/>
          <p:nvPr/>
        </p:nvGrpSpPr>
        <p:grpSpPr>
          <a:xfrm>
            <a:off x="705662" y="3065612"/>
            <a:ext cx="8488676" cy="2556787"/>
            <a:chOff x="705662" y="2838103"/>
            <a:chExt cx="8488676" cy="2556787"/>
          </a:xfrm>
        </p:grpSpPr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03B3CFB0-96B5-3B6C-4DCA-21B30DD92CA7}"/>
                </a:ext>
              </a:extLst>
            </p:cNvPr>
            <p:cNvGrpSpPr/>
            <p:nvPr/>
          </p:nvGrpSpPr>
          <p:grpSpPr>
            <a:xfrm>
              <a:off x="705662" y="2838103"/>
              <a:ext cx="8488676" cy="2556787"/>
              <a:chOff x="1200400" y="2618691"/>
              <a:chExt cx="8488676" cy="2556787"/>
            </a:xfrm>
          </p:grpSpPr>
          <p:sp>
            <p:nvSpPr>
              <p:cNvPr id="99" name="원통형 98">
                <a:extLst>
                  <a:ext uri="{FF2B5EF4-FFF2-40B4-BE49-F238E27FC236}">
                    <a16:creationId xmlns:a16="http://schemas.microsoft.com/office/drawing/2014/main" id="{A06E1C8E-AD6E-C730-818C-10C7F2A735A2}"/>
                  </a:ext>
                </a:extLst>
              </p:cNvPr>
              <p:cNvSpPr/>
              <p:nvPr/>
            </p:nvSpPr>
            <p:spPr>
              <a:xfrm>
                <a:off x="1200400" y="3650450"/>
                <a:ext cx="1152160" cy="648090"/>
              </a:xfrm>
              <a:prstGeom prst="can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/>
                  <a:cs typeface="+mn-cs"/>
                </a:endParaRPr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A7CB951B-4E90-98B9-E3AD-7C9E1D861E4C}"/>
                  </a:ext>
                </a:extLst>
              </p:cNvPr>
              <p:cNvSpPr/>
              <p:nvPr/>
            </p:nvSpPr>
            <p:spPr>
              <a:xfrm>
                <a:off x="3210960" y="3650450"/>
                <a:ext cx="1152160" cy="648090"/>
              </a:xfrm>
              <a:prstGeom prst="rect">
                <a:avLst/>
              </a:prstGeom>
              <a:solidFill>
                <a:srgbClr val="FFC000"/>
              </a:solid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/>
                  <a:cs typeface="+mn-cs"/>
                </a:endParaRPr>
              </a:p>
            </p:txBody>
          </p:sp>
          <p:sp>
            <p:nvSpPr>
              <p:cNvPr id="101" name="원통형 100">
                <a:extLst>
                  <a:ext uri="{FF2B5EF4-FFF2-40B4-BE49-F238E27FC236}">
                    <a16:creationId xmlns:a16="http://schemas.microsoft.com/office/drawing/2014/main" id="{0E42A911-311C-DC00-B78C-1F016014C643}"/>
                  </a:ext>
                </a:extLst>
              </p:cNvPr>
              <p:cNvSpPr/>
              <p:nvPr/>
            </p:nvSpPr>
            <p:spPr>
              <a:xfrm>
                <a:off x="2958925" y="2618691"/>
                <a:ext cx="504070" cy="467672"/>
              </a:xfrm>
              <a:prstGeom prst="can">
                <a:avLst/>
              </a:prstGeom>
              <a:solidFill>
                <a:srgbClr val="5B9BD5"/>
              </a:solid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/>
                  <a:cs typeface="+mn-cs"/>
                </a:endParaRPr>
              </a:p>
            </p:txBody>
          </p:sp>
          <p:grpSp>
            <p:nvGrpSpPr>
              <p:cNvPr id="102" name="그룹 101">
                <a:extLst>
                  <a:ext uri="{FF2B5EF4-FFF2-40B4-BE49-F238E27FC236}">
                    <a16:creationId xmlns:a16="http://schemas.microsoft.com/office/drawing/2014/main" id="{9593AD07-6A5C-3F17-B424-832E86977F04}"/>
                  </a:ext>
                </a:extLst>
              </p:cNvPr>
              <p:cNvGrpSpPr/>
              <p:nvPr/>
            </p:nvGrpSpPr>
            <p:grpSpPr>
              <a:xfrm>
                <a:off x="5221415" y="3241184"/>
                <a:ext cx="531173" cy="1466622"/>
                <a:chOff x="5442356" y="3012866"/>
                <a:chExt cx="531173" cy="1466622"/>
              </a:xfrm>
            </p:grpSpPr>
            <p:sp>
              <p:nvSpPr>
                <p:cNvPr id="125" name="직사각형 124">
                  <a:extLst>
                    <a:ext uri="{FF2B5EF4-FFF2-40B4-BE49-F238E27FC236}">
                      <a16:creationId xmlns:a16="http://schemas.microsoft.com/office/drawing/2014/main" id="{A92E3DCC-9C69-C226-EFF4-1236FE2EFEB0}"/>
                    </a:ext>
                  </a:extLst>
                </p:cNvPr>
                <p:cNvSpPr/>
                <p:nvPr/>
              </p:nvSpPr>
              <p:spPr>
                <a:xfrm>
                  <a:off x="5761060" y="3012866"/>
                  <a:ext cx="212469" cy="1260668"/>
                </a:xfrm>
                <a:prstGeom prst="rect">
                  <a:avLst/>
                </a:prstGeom>
                <a:solidFill>
                  <a:sysClr val="window" lastClr="FFFFFF">
                    <a:lumMod val="75000"/>
                  </a:sysClr>
                </a:solidFill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/>
                    <a:cs typeface="+mn-cs"/>
                  </a:endParaRPr>
                </a:p>
              </p:txBody>
            </p:sp>
            <p:sp>
              <p:nvSpPr>
                <p:cNvPr id="126" name="직사각형 125">
                  <a:extLst>
                    <a:ext uri="{FF2B5EF4-FFF2-40B4-BE49-F238E27FC236}">
                      <a16:creationId xmlns:a16="http://schemas.microsoft.com/office/drawing/2014/main" id="{F141622C-003E-001F-A49F-32C5674855D1}"/>
                    </a:ext>
                  </a:extLst>
                </p:cNvPr>
                <p:cNvSpPr/>
                <p:nvPr/>
              </p:nvSpPr>
              <p:spPr>
                <a:xfrm>
                  <a:off x="5654825" y="3078728"/>
                  <a:ext cx="212469" cy="1260668"/>
                </a:xfrm>
                <a:prstGeom prst="rect">
                  <a:avLst/>
                </a:prstGeom>
                <a:solidFill>
                  <a:sysClr val="window" lastClr="FFFFFF">
                    <a:lumMod val="75000"/>
                  </a:sysClr>
                </a:solidFill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/>
                    <a:cs typeface="+mn-cs"/>
                  </a:endParaRPr>
                </a:p>
              </p:txBody>
            </p:sp>
            <p:sp>
              <p:nvSpPr>
                <p:cNvPr id="127" name="직사각형 126">
                  <a:extLst>
                    <a:ext uri="{FF2B5EF4-FFF2-40B4-BE49-F238E27FC236}">
                      <a16:creationId xmlns:a16="http://schemas.microsoft.com/office/drawing/2014/main" id="{F87135D2-9B28-67CC-9A02-0DF5156FC53F}"/>
                    </a:ext>
                  </a:extLst>
                </p:cNvPr>
                <p:cNvSpPr/>
                <p:nvPr/>
              </p:nvSpPr>
              <p:spPr>
                <a:xfrm>
                  <a:off x="5548591" y="3152958"/>
                  <a:ext cx="212469" cy="1260668"/>
                </a:xfrm>
                <a:prstGeom prst="rect">
                  <a:avLst/>
                </a:prstGeom>
                <a:solidFill>
                  <a:sysClr val="window" lastClr="FFFFFF">
                    <a:lumMod val="75000"/>
                  </a:sysClr>
                </a:solidFill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/>
                    <a:cs typeface="+mn-cs"/>
                  </a:endParaRPr>
                </a:p>
              </p:txBody>
            </p:sp>
            <p:sp>
              <p:nvSpPr>
                <p:cNvPr id="128" name="직사각형 127">
                  <a:extLst>
                    <a:ext uri="{FF2B5EF4-FFF2-40B4-BE49-F238E27FC236}">
                      <a16:creationId xmlns:a16="http://schemas.microsoft.com/office/drawing/2014/main" id="{7CBECD4E-435C-C61B-5658-C7904290E07C}"/>
                    </a:ext>
                  </a:extLst>
                </p:cNvPr>
                <p:cNvSpPr/>
                <p:nvPr/>
              </p:nvSpPr>
              <p:spPr>
                <a:xfrm>
                  <a:off x="5442356" y="3218820"/>
                  <a:ext cx="212469" cy="1260668"/>
                </a:xfrm>
                <a:prstGeom prst="rect">
                  <a:avLst/>
                </a:prstGeom>
                <a:solidFill>
                  <a:sysClr val="window" lastClr="FFFFFF">
                    <a:lumMod val="75000"/>
                  </a:sysClr>
                </a:solidFill>
                <a:ln w="3175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LG스마트체 Regular"/>
                    <a:cs typeface="+mn-cs"/>
                  </a:endParaRPr>
                </a:p>
              </p:txBody>
            </p:sp>
          </p:grp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249D8690-7203-E2D6-9686-A5953EF9A8A8}"/>
                  </a:ext>
                </a:extLst>
              </p:cNvPr>
              <p:cNvSpPr/>
              <p:nvPr/>
            </p:nvSpPr>
            <p:spPr>
              <a:xfrm>
                <a:off x="6503134" y="3656502"/>
                <a:ext cx="1152160" cy="648090"/>
              </a:xfrm>
              <a:prstGeom prst="rect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/>
                  <a:cs typeface="+mn-cs"/>
                </a:endParaRPr>
              </a:p>
            </p:txBody>
          </p:sp>
          <p:sp>
            <p:nvSpPr>
              <p:cNvPr id="104" name="원통형 103">
                <a:extLst>
                  <a:ext uri="{FF2B5EF4-FFF2-40B4-BE49-F238E27FC236}">
                    <a16:creationId xmlns:a16="http://schemas.microsoft.com/office/drawing/2014/main" id="{5F270837-619C-6995-498E-7D92F8E93E73}"/>
                  </a:ext>
                </a:extLst>
              </p:cNvPr>
              <p:cNvSpPr/>
              <p:nvPr/>
            </p:nvSpPr>
            <p:spPr>
              <a:xfrm>
                <a:off x="8373565" y="4707806"/>
                <a:ext cx="504070" cy="467672"/>
              </a:xfrm>
              <a:prstGeom prst="can">
                <a:avLst/>
              </a:prstGeom>
              <a:solidFill>
                <a:srgbClr val="5B9BD5"/>
              </a:solid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4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G스마트체 Regular"/>
                  <a:cs typeface="+mn-cs"/>
                </a:endParaRPr>
              </a:p>
            </p:txBody>
          </p:sp>
          <p:pic>
            <p:nvPicPr>
              <p:cNvPr id="105" name="그림 104">
                <a:extLst>
                  <a:ext uri="{FF2B5EF4-FFF2-40B4-BE49-F238E27FC236}">
                    <a16:creationId xmlns:a16="http://schemas.microsoft.com/office/drawing/2014/main" id="{495DE4CA-7544-7046-196B-BDF6B3CEDE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193450" y="3650450"/>
                <a:ext cx="822575" cy="640968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06E5A5D4-383C-5332-2F6D-B92726B9C90A}"/>
                      </a:ext>
                    </a:extLst>
                  </p:cNvPr>
                  <p:cNvSpPr txBox="1"/>
                  <p:nvPr/>
                </p:nvSpPr>
                <p:spPr>
                  <a:xfrm>
                    <a:off x="1250855" y="3856688"/>
                    <a:ext cx="1048684" cy="43088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11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LG스마트체2.0 Regular" panose="020B0600000101010101" pitchFamily="50" charset="-127"/>
                        <a:cs typeface="Times New Roman" panose="02020603050405020304" pitchFamily="18" charset="0"/>
                      </a:rPr>
                      <a:t>Unlabeled pool</a:t>
                    </a:r>
                  </a:p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ko-KR" sz="11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11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ko-KR" sz="11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sub>
                          </m:sSub>
                        </m:oMath>
                      </m:oMathPara>
                    </a14:m>
                    <a:endParaRPr kumimoji="0" lang="ko-KR" alt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LG스마트체2.0 Regular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8" name="TextBox 87">
                    <a:extLst>
                      <a:ext uri="{FF2B5EF4-FFF2-40B4-BE49-F238E27FC236}">
                        <a16:creationId xmlns:a16="http://schemas.microsoft.com/office/drawing/2014/main" id="{36FBD442-4FCB-C2F8-93B2-1ED7688854F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50855" y="3856688"/>
                    <a:ext cx="1048684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F2993948-CB0C-5176-1B7E-57483B650411}"/>
                  </a:ext>
                </a:extLst>
              </p:cNvPr>
              <p:cNvSpPr txBox="1"/>
              <p:nvPr/>
            </p:nvSpPr>
            <p:spPr>
              <a:xfrm>
                <a:off x="3307422" y="3748861"/>
                <a:ext cx="97815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Deep learning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model</a:t>
                </a:r>
                <a:endPara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LG스마트체2.0 Regular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C993254-4919-9B27-AA88-094DD3F5966A}"/>
                  </a:ext>
                </a:extLst>
              </p:cNvPr>
              <p:cNvSpPr txBox="1"/>
              <p:nvPr/>
            </p:nvSpPr>
            <p:spPr>
              <a:xfrm>
                <a:off x="3460907" y="2655476"/>
                <a:ext cx="81144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Labeled 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training set</a:t>
                </a:r>
                <a:endPara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LG스마트체2.0 Regular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FDB07CCF-9EFC-53C9-77FC-9D7FA43FE4AD}"/>
                  </a:ext>
                </a:extLst>
              </p:cNvPr>
              <p:cNvSpPr txBox="1"/>
              <p:nvPr/>
            </p:nvSpPr>
            <p:spPr>
              <a:xfrm>
                <a:off x="8877635" y="4739956"/>
                <a:ext cx="81144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Labeled 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training set</a:t>
                </a:r>
                <a:endPara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LG스마트체2.0 Regular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D5F894E8-D94E-3C96-BDE4-153692AC282A}"/>
                  </a:ext>
                </a:extLst>
              </p:cNvPr>
              <p:cNvSpPr txBox="1"/>
              <p:nvPr/>
            </p:nvSpPr>
            <p:spPr>
              <a:xfrm>
                <a:off x="6527466" y="3833499"/>
                <a:ext cx="114807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Selected samples</a:t>
                </a:r>
                <a:endPara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LG스마트체2.0 Regular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6FC7E5D-8BFF-5C9E-52FD-D79001DC1D18}"/>
                  </a:ext>
                </a:extLst>
              </p:cNvPr>
              <p:cNvSpPr txBox="1"/>
              <p:nvPr/>
            </p:nvSpPr>
            <p:spPr>
              <a:xfrm>
                <a:off x="5821670" y="3672238"/>
                <a:ext cx="636714" cy="6001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1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Query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ko-KR" sz="11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LG스마트체2.0 Regular" panose="020B0600000101010101" pitchFamily="50" charset="-127"/>
                  <a:cs typeface="Times New Roman" panose="02020603050405020304" pitchFamily="18" charset="0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1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strategy</a:t>
                </a:r>
                <a:endParaRPr kumimoji="0" lang="ko-KR" altLang="en-US" sz="11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LG스마트체2.0 Regular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47E8CA15-692F-69B6-4CC1-6A7345A9C09E}"/>
                  </a:ext>
                </a:extLst>
              </p:cNvPr>
              <p:cNvSpPr txBox="1"/>
              <p:nvPr/>
            </p:nvSpPr>
            <p:spPr>
              <a:xfrm>
                <a:off x="4992096" y="4739956"/>
                <a:ext cx="88357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Feature map</a:t>
                </a:r>
                <a:endPara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LG스마트체2.0 Regular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E85A88A-ABEC-FBDE-7B19-CE33FB82E54B}"/>
                  </a:ext>
                </a:extLst>
              </p:cNvPr>
              <p:cNvSpPr txBox="1"/>
              <p:nvPr/>
            </p:nvSpPr>
            <p:spPr>
              <a:xfrm>
                <a:off x="1753060" y="4501852"/>
                <a:ext cx="104067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1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Update dataset</a:t>
                </a:r>
                <a:endParaRPr kumimoji="0" lang="ko-KR" altLang="en-US" sz="11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LG스마트체2.0 Regular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61BBB285-B78C-FF8C-ECC9-9B237E315600}"/>
                  </a:ext>
                </a:extLst>
              </p:cNvPr>
              <p:cNvSpPr txBox="1"/>
              <p:nvPr/>
            </p:nvSpPr>
            <p:spPr>
              <a:xfrm>
                <a:off x="3850597" y="3129768"/>
                <a:ext cx="103105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1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Initial training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1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or pre-training</a:t>
                </a:r>
                <a:endParaRPr kumimoji="0" lang="ko-KR" altLang="en-US" sz="11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LG스마트체2.0 Regular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3E1F5CEB-C443-4A6B-DA35-817C31A483E7}"/>
                  </a:ext>
                </a:extLst>
              </p:cNvPr>
              <p:cNvSpPr txBox="1"/>
              <p:nvPr/>
            </p:nvSpPr>
            <p:spPr>
              <a:xfrm>
                <a:off x="3854226" y="4501852"/>
                <a:ext cx="105509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0" i="1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Training model</a:t>
                </a:r>
                <a:endParaRPr kumimoji="0" lang="ko-KR" altLang="en-US" sz="1100" b="0" i="1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LG스마트체2.0 Regular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6" name="연결선: 꺾임 115">
                <a:extLst>
                  <a:ext uri="{FF2B5EF4-FFF2-40B4-BE49-F238E27FC236}">
                    <a16:creationId xmlns:a16="http://schemas.microsoft.com/office/drawing/2014/main" id="{FBE45C69-E096-7677-9139-5BA55744140F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1776480" y="4451040"/>
                <a:ext cx="6466009" cy="557174"/>
              </a:xfrm>
              <a:prstGeom prst="bentConnector2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117" name="연결선: 꺾임 116">
                <a:extLst>
                  <a:ext uri="{FF2B5EF4-FFF2-40B4-BE49-F238E27FC236}">
                    <a16:creationId xmlns:a16="http://schemas.microsoft.com/office/drawing/2014/main" id="{4FAD1C12-5FCE-4701-50E9-72EBA07FF52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800842" y="4451041"/>
                <a:ext cx="4392609" cy="557174"/>
              </a:xfrm>
              <a:prstGeom prst="bentConnector3">
                <a:avLst>
                  <a:gd name="adj1" fmla="val 100018"/>
                </a:avLst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118" name="직선 화살표 연결선 117">
                <a:extLst>
                  <a:ext uri="{FF2B5EF4-FFF2-40B4-BE49-F238E27FC236}">
                    <a16:creationId xmlns:a16="http://schemas.microsoft.com/office/drawing/2014/main" id="{0F2B0A1E-F0B1-A6DF-C736-941D2FF193AB}"/>
                  </a:ext>
                </a:extLst>
              </p:cNvPr>
              <p:cNvCxnSpPr/>
              <p:nvPr/>
            </p:nvCxnSpPr>
            <p:spPr>
              <a:xfrm>
                <a:off x="2466967" y="4005080"/>
                <a:ext cx="648090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119" name="직선 화살표 연결선 118">
                <a:extLst>
                  <a:ext uri="{FF2B5EF4-FFF2-40B4-BE49-F238E27FC236}">
                    <a16:creationId xmlns:a16="http://schemas.microsoft.com/office/drawing/2014/main" id="{73D63EDC-7DDB-0DDF-2449-C431848485D8}"/>
                  </a:ext>
                </a:extLst>
              </p:cNvPr>
              <p:cNvCxnSpPr/>
              <p:nvPr/>
            </p:nvCxnSpPr>
            <p:spPr>
              <a:xfrm>
                <a:off x="4448930" y="3977910"/>
                <a:ext cx="648090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120" name="직선 화살표 연결선 119">
                <a:extLst>
                  <a:ext uri="{FF2B5EF4-FFF2-40B4-BE49-F238E27FC236}">
                    <a16:creationId xmlns:a16="http://schemas.microsoft.com/office/drawing/2014/main" id="{5928D22C-0998-E0D5-A615-09B7A36D5788}"/>
                  </a:ext>
                </a:extLst>
              </p:cNvPr>
              <p:cNvCxnSpPr/>
              <p:nvPr/>
            </p:nvCxnSpPr>
            <p:spPr>
              <a:xfrm>
                <a:off x="5825678" y="3977910"/>
                <a:ext cx="648090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121" name="직선 화살표 연결선 120">
                <a:extLst>
                  <a:ext uri="{FF2B5EF4-FFF2-40B4-BE49-F238E27FC236}">
                    <a16:creationId xmlns:a16="http://schemas.microsoft.com/office/drawing/2014/main" id="{1B65CE91-7190-6CB7-4566-6AACA8EC4F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25475" y="3977910"/>
                <a:ext cx="395965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122" name="직선 화살표 연결선 121">
                <a:extLst>
                  <a:ext uri="{FF2B5EF4-FFF2-40B4-BE49-F238E27FC236}">
                    <a16:creationId xmlns:a16="http://schemas.microsoft.com/office/drawing/2014/main" id="{12EEFC77-6A35-61F5-1D14-2DB96091F2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0841" y="3127476"/>
                <a:ext cx="0" cy="410234"/>
              </a:xfrm>
              <a:prstGeom prst="straightConnector1">
                <a:avLst/>
              </a:prstGeom>
              <a:noFill/>
              <a:ln w="19050" cap="flat" cmpd="sng" algn="ctr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TextBox 122">
                    <a:extLst>
                      <a:ext uri="{FF2B5EF4-FFF2-40B4-BE49-F238E27FC236}">
                        <a16:creationId xmlns:a16="http://schemas.microsoft.com/office/drawing/2014/main" id="{9B39736E-08BF-3EE0-888A-207B9FCD4256}"/>
                      </a:ext>
                    </a:extLst>
                  </p:cNvPr>
                  <p:cNvSpPr txBox="1"/>
                  <p:nvPr/>
                </p:nvSpPr>
                <p:spPr>
                  <a:xfrm>
                    <a:off x="8451051" y="4870761"/>
                    <a:ext cx="381515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ko-KR" sz="11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11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ko-KR" sz="11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 kumimoji="0" lang="ko-KR" alt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LG스마트체2.0 Regular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6" name="TextBox 115">
                    <a:extLst>
                      <a:ext uri="{FF2B5EF4-FFF2-40B4-BE49-F238E27FC236}">
                        <a16:creationId xmlns:a16="http://schemas.microsoft.com/office/drawing/2014/main" id="{12FB3BA9-7FDD-D6DE-56F1-1D3160C6073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51051" y="4870761"/>
                    <a:ext cx="381515" cy="2616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TextBox 123">
                    <a:extLst>
                      <a:ext uri="{FF2B5EF4-FFF2-40B4-BE49-F238E27FC236}">
                        <a16:creationId xmlns:a16="http://schemas.microsoft.com/office/drawing/2014/main" id="{DC2988DB-4471-87F8-3322-9323AAC5625C}"/>
                      </a:ext>
                    </a:extLst>
                  </p:cNvPr>
                  <p:cNvSpPr txBox="1"/>
                  <p:nvPr/>
                </p:nvSpPr>
                <p:spPr>
                  <a:xfrm>
                    <a:off x="3025027" y="2735569"/>
                    <a:ext cx="369780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en-US" altLang="ko-KR" sz="11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altLang="ko-KR" sz="11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ko-KR" sz="1100" b="0" i="1" u="none" strike="noStrike" kern="0" cap="none" spc="0" normalizeH="0" baseline="0" noProof="0" dirty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kumimoji="0" lang="ko-KR" altLang="en-US" sz="11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LG스마트체2.0 Regular" panose="020B0600000101010101" pitchFamily="50" charset="-127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42969191-BC8D-7E1A-4677-187BC54290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5027" y="2735569"/>
                    <a:ext cx="369780" cy="2616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98" name="직선 화살표 연결선 97">
              <a:extLst>
                <a:ext uri="{FF2B5EF4-FFF2-40B4-BE49-F238E27FC236}">
                  <a16:creationId xmlns:a16="http://schemas.microsoft.com/office/drawing/2014/main" id="{15878D8A-2E50-7216-5BBF-F5E31859862A}"/>
                </a:ext>
              </a:extLst>
            </p:cNvPr>
            <p:cNvCxnSpPr>
              <a:cxnSpLocks/>
            </p:cNvCxnSpPr>
            <p:nvPr/>
          </p:nvCxnSpPr>
          <p:spPr>
            <a:xfrm>
              <a:off x="8121440" y="4451122"/>
              <a:ext cx="0" cy="410234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</p:grp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901FB559-EF3C-71CD-C766-8E3098BAF284}"/>
              </a:ext>
            </a:extLst>
          </p:cNvPr>
          <p:cNvSpPr/>
          <p:nvPr/>
        </p:nvSpPr>
        <p:spPr>
          <a:xfrm>
            <a:off x="5085937" y="3632015"/>
            <a:ext cx="2310316" cy="15856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 err="1">
              <a:solidFill>
                <a:schemeClr val="tx1"/>
              </a:solidFill>
            </a:endParaRP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3DD85F03-8911-A481-3016-35BA1B671FA9}"/>
              </a:ext>
            </a:extLst>
          </p:cNvPr>
          <p:cNvCxnSpPr>
            <a:cxnSpLocks/>
          </p:cNvCxnSpPr>
          <p:nvPr/>
        </p:nvCxnSpPr>
        <p:spPr>
          <a:xfrm>
            <a:off x="5879977" y="2529320"/>
            <a:ext cx="2267093" cy="0"/>
          </a:xfrm>
          <a:prstGeom prst="line">
            <a:avLst/>
          </a:prstGeom>
          <a:ln w="1905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연결선: 꺾임 133">
            <a:extLst>
              <a:ext uri="{FF2B5EF4-FFF2-40B4-BE49-F238E27FC236}">
                <a16:creationId xmlns:a16="http://schemas.microsoft.com/office/drawing/2014/main" id="{14FD9845-1A79-FA20-269F-F4385055AC50}"/>
              </a:ext>
            </a:extLst>
          </p:cNvPr>
          <p:cNvCxnSpPr>
            <a:endCxn id="129" idx="0"/>
          </p:cNvCxnSpPr>
          <p:nvPr/>
        </p:nvCxnSpPr>
        <p:spPr>
          <a:xfrm rot="5400000">
            <a:off x="6053841" y="2716575"/>
            <a:ext cx="1102695" cy="728185"/>
          </a:xfrm>
          <a:prstGeom prst="bentConnector3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59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103A9-6DB0-91C8-56E8-914D32E0A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주제 및 목표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68682F-8A3D-F9BF-155A-3B7B87E9D3B5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ko-KR" altLang="en-US" dirty="0"/>
              <a:t>주제 </a:t>
            </a:r>
            <a:r>
              <a:rPr lang="en-US" altLang="ko-KR" dirty="0"/>
              <a:t>: </a:t>
            </a:r>
            <a:r>
              <a:rPr lang="ko-KR" altLang="en-US" dirty="0"/>
              <a:t>강화학습을 이용한 이미지 분류에서의 능동학습 </a:t>
            </a:r>
            <a:r>
              <a:rPr lang="en-US" altLang="ko-KR" dirty="0"/>
              <a:t>(active learning)</a:t>
            </a:r>
          </a:p>
          <a:p>
            <a:pPr lvl="1">
              <a:buFont typeface="+mj-lt"/>
              <a:buAutoNum type="arabicPeriod" startAt="2"/>
            </a:pPr>
            <a:r>
              <a:rPr lang="en-US" altLang="ko-KR" dirty="0"/>
              <a:t>Active learning (AL) : </a:t>
            </a:r>
            <a:r>
              <a:rPr lang="ko-KR" altLang="en-US" dirty="0"/>
              <a:t>모델이 학습에 사용할 데이터를 </a:t>
            </a:r>
            <a:r>
              <a:rPr lang="ko-KR" altLang="en-US" b="1" dirty="0"/>
              <a:t>능동적으로 선택하는</a:t>
            </a:r>
            <a:r>
              <a:rPr lang="ko-KR" altLang="en-US" dirty="0"/>
              <a:t> 머신 러닝 기법</a:t>
            </a:r>
            <a:endParaRPr lang="en-US" altLang="ko-KR" dirty="0"/>
          </a:p>
          <a:p>
            <a:pPr lvl="2"/>
            <a:r>
              <a:rPr lang="ko-KR" altLang="en-US" b="1" dirty="0"/>
              <a:t>최소한의 </a:t>
            </a:r>
            <a:r>
              <a:rPr lang="en-US" altLang="ko-KR" b="1" dirty="0"/>
              <a:t>labeling</a:t>
            </a:r>
            <a:r>
              <a:rPr lang="ko-KR" altLang="en-US" b="1" dirty="0"/>
              <a:t> 비용으로 모델 성능을 최대화</a:t>
            </a:r>
            <a:r>
              <a:rPr lang="ko-KR" altLang="en-US" dirty="0"/>
              <a:t>하는 것을 목표</a:t>
            </a:r>
            <a:endParaRPr lang="en-US" altLang="ko-KR" dirty="0"/>
          </a:p>
          <a:p>
            <a:pPr lvl="3"/>
            <a:r>
              <a:rPr lang="ko-KR" altLang="en-US" dirty="0"/>
              <a:t>기존의 머신 러닝 기법들이 가지는 </a:t>
            </a:r>
            <a:r>
              <a:rPr lang="en-US" altLang="ko-KR" b="1" dirty="0"/>
              <a:t>labeling </a:t>
            </a:r>
            <a:r>
              <a:rPr lang="ko-KR" altLang="en-US" b="1" dirty="0"/>
              <a:t>비용 문제를 해결</a:t>
            </a:r>
            <a:r>
              <a:rPr lang="ko-KR" altLang="en-US" dirty="0"/>
              <a:t>하기 위함</a:t>
            </a:r>
            <a:endParaRPr lang="en-US" altLang="ko-KR" dirty="0"/>
          </a:p>
          <a:p>
            <a:pPr lvl="2"/>
            <a:r>
              <a:rPr lang="ko-KR" altLang="en-US" dirty="0"/>
              <a:t>여러 번의 </a:t>
            </a:r>
            <a:r>
              <a:rPr lang="en-US" altLang="ko-KR" dirty="0"/>
              <a:t>cycle</a:t>
            </a:r>
            <a:r>
              <a:rPr lang="ko-KR" altLang="en-US" dirty="0"/>
              <a:t>에 걸쳐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unlabeled set</a:t>
            </a:r>
            <a:r>
              <a:rPr lang="ko-KR" altLang="en-US" dirty="0"/>
              <a:t>으로부터</a:t>
            </a:r>
            <a:r>
              <a:rPr lang="en-US" altLang="ko-KR" dirty="0"/>
              <a:t> </a:t>
            </a:r>
            <a:r>
              <a:rPr lang="ko-KR" altLang="en-US" dirty="0"/>
              <a:t>정보량이 높은 샘플을 </a:t>
            </a:r>
            <a:r>
              <a:rPr lang="ko-KR" altLang="en-US" b="1" dirty="0"/>
              <a:t>선택 </a:t>
            </a:r>
            <a:r>
              <a:rPr lang="en-US" altLang="ko-KR" b="1" dirty="0"/>
              <a:t>(sampling, querying)</a:t>
            </a:r>
            <a:r>
              <a:rPr lang="ko-KR" altLang="en-US" dirty="0"/>
              <a:t>하여 </a:t>
            </a:r>
            <a:r>
              <a:rPr lang="en-US" altLang="ko-KR" dirty="0"/>
              <a:t>labeled set</a:t>
            </a:r>
            <a:r>
              <a:rPr lang="ko-KR" altLang="en-US" dirty="0"/>
              <a:t>에 </a:t>
            </a:r>
            <a:r>
              <a:rPr lang="ko-KR" altLang="en-US" b="1" dirty="0"/>
              <a:t>추가 </a:t>
            </a:r>
            <a:r>
              <a:rPr lang="en-US" altLang="ko-KR" b="1" dirty="0"/>
              <a:t>(</a:t>
            </a:r>
            <a:r>
              <a:rPr lang="ko-KR" altLang="en-US" b="1" dirty="0"/>
              <a:t>업데이트</a:t>
            </a:r>
            <a:r>
              <a:rPr lang="en-US" altLang="ko-KR" b="1" dirty="0"/>
              <a:t>)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이를 사용해 모델을 다시 학습시킨 뒤 </a:t>
            </a:r>
            <a:r>
              <a:rPr lang="ko-KR" altLang="en-US" b="1" dirty="0"/>
              <a:t>각 </a:t>
            </a:r>
            <a:r>
              <a:rPr lang="en-US" altLang="ko-KR" b="1" dirty="0"/>
              <a:t>cycle </a:t>
            </a:r>
            <a:r>
              <a:rPr lang="ko-KR" altLang="en-US" b="1" dirty="0"/>
              <a:t>마다 모델 성능을 평가</a:t>
            </a:r>
            <a:endParaRPr lang="en-US" altLang="ko-KR" b="1" dirty="0"/>
          </a:p>
          <a:p>
            <a:pPr lvl="3"/>
            <a:r>
              <a:rPr lang="ko-KR" altLang="en-US" dirty="0"/>
              <a:t>정보량이 많다는 것은 다음 </a:t>
            </a:r>
            <a:r>
              <a:rPr lang="en-US" altLang="ko-KR" dirty="0"/>
              <a:t>cycle</a:t>
            </a:r>
            <a:r>
              <a:rPr lang="ko-KR" altLang="en-US" dirty="0"/>
              <a:t>에서 모델 학습에 큰 도움을 준다는 것을 의미함</a:t>
            </a:r>
            <a:endParaRPr lang="en-US" altLang="ko-KR" dirty="0"/>
          </a:p>
          <a:p>
            <a:pPr lvl="3"/>
            <a:endParaRPr lang="en-US" altLang="ko-KR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02D8F98-FCDA-FEE6-EF43-B40EF065CB08}"/>
              </a:ext>
            </a:extLst>
          </p:cNvPr>
          <p:cNvGrpSpPr/>
          <p:nvPr/>
        </p:nvGrpSpPr>
        <p:grpSpPr>
          <a:xfrm>
            <a:off x="5853800" y="3897358"/>
            <a:ext cx="2195630" cy="2268022"/>
            <a:chOff x="1352500" y="2961228"/>
            <a:chExt cx="2195630" cy="2268022"/>
          </a:xfrm>
        </p:grpSpPr>
        <p:sp>
          <p:nvSpPr>
            <p:cNvPr id="7" name="원호 6">
              <a:extLst>
                <a:ext uri="{FF2B5EF4-FFF2-40B4-BE49-F238E27FC236}">
                  <a16:creationId xmlns:a16="http://schemas.microsoft.com/office/drawing/2014/main" id="{14351572-FEDF-A8B2-3141-E81DFDCE657C}"/>
                </a:ext>
              </a:extLst>
            </p:cNvPr>
            <p:cNvSpPr/>
            <p:nvPr/>
          </p:nvSpPr>
          <p:spPr>
            <a:xfrm>
              <a:off x="1352500" y="3068950"/>
              <a:ext cx="2195630" cy="2160300"/>
            </a:xfrm>
            <a:prstGeom prst="arc">
              <a:avLst>
                <a:gd name="adj1" fmla="val 16874621"/>
                <a:gd name="adj2" fmla="val 15422596"/>
              </a:avLst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59E5CE4-D793-C797-44FE-3FFBD6F7FBA4}"/>
                    </a:ext>
                  </a:extLst>
                </p:cNvPr>
                <p:cNvSpPr txBox="1"/>
                <p:nvPr/>
              </p:nvSpPr>
              <p:spPr>
                <a:xfrm>
                  <a:off x="2316304" y="2961228"/>
                  <a:ext cx="26802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  <a:ea typeface="LG스마트체2.0 Regular" panose="020B0600000101010101" pitchFamily="50" charset="-127"/>
                                <a:cs typeface="Arial" pitchFamily="34" charset="0"/>
                              </a:rPr>
                            </m:ctrlPr>
                          </m:sSubPr>
                          <m:e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LG스마트체2.0 Regular" panose="020B0600000101010101" pitchFamily="50" charset="-127"/>
                                <a:cs typeface="Arial" pitchFamily="34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LG스마트체2.0 Regular" panose="020B0600000101010101" pitchFamily="50" charset="-127"/>
                                <a:cs typeface="Arial" pitchFamily="34" charset="0"/>
                              </a:rPr>
                              <m:t>𝑇</m:t>
                            </m:r>
                          </m:sub>
                        </m:sSub>
                      </m:oMath>
                    </m:oMathPara>
                  </a14:m>
                  <a:endParaRPr lang="ko-KR" altLang="en-US" sz="1400" dirty="0"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Arial" pitchFamily="34" charset="0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91F9AE9-CD8A-DD62-0DA2-876A5F93ED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6304" y="2961228"/>
                  <a:ext cx="268022" cy="215444"/>
                </a:xfrm>
                <a:prstGeom prst="rect">
                  <a:avLst/>
                </a:prstGeom>
                <a:blipFill>
                  <a:blip r:embed="rId3"/>
                  <a:stretch>
                    <a:fillRect l="-11364" b="-2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6E142B2-186A-6515-CD40-4DF792C0BBBB}"/>
                    </a:ext>
                  </a:extLst>
                </p:cNvPr>
                <p:cNvSpPr txBox="1"/>
                <p:nvPr/>
              </p:nvSpPr>
              <p:spPr>
                <a:xfrm>
                  <a:off x="1866460" y="3933656"/>
                  <a:ext cx="267061" cy="21903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  <a:ea typeface="LG스마트체2.0 Regular" panose="020B0600000101010101" pitchFamily="50" charset="-127"/>
                                <a:cs typeface="Arial" pitchFamily="34" charset="0"/>
                              </a:rPr>
                            </m:ctrlPr>
                          </m:sSubSup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LG스마트체2.0 Regular" panose="020B0600000101010101" pitchFamily="50" charset="-127"/>
                                <a:cs typeface="Arial" pitchFamily="34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LG스마트체2.0 Regular" panose="020B0600000101010101" pitchFamily="50" charset="-127"/>
                                <a:cs typeface="Arial" pitchFamily="34" charset="0"/>
                              </a:rPr>
                              <m:t>𝐿</m:t>
                            </m:r>
                          </m:sub>
                          <m:sup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LG스마트체2.0 Regular" panose="020B0600000101010101" pitchFamily="50" charset="-127"/>
                                <a:cs typeface="Arial" pitchFamily="34" charset="0"/>
                              </a:rPr>
                              <m:t>𝑟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LG스마트체2.0 Regular" panose="020B0600000101010101" pitchFamily="50" charset="-127"/>
                                <a:cs typeface="Arial" pitchFamily="34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ko-KR" altLang="en-US" sz="1400" dirty="0"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Arial" pitchFamily="34" charset="0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EA96AA7-9210-EDF9-7C0A-B119DEB29B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6460" y="3933656"/>
                  <a:ext cx="267061" cy="219034"/>
                </a:xfrm>
                <a:prstGeom prst="rect">
                  <a:avLst/>
                </a:prstGeom>
                <a:blipFill>
                  <a:blip r:embed="rId4"/>
                  <a:stretch>
                    <a:fillRect l="-23256" r="-53488" b="-1944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원호 9">
              <a:extLst>
                <a:ext uri="{FF2B5EF4-FFF2-40B4-BE49-F238E27FC236}">
                  <a16:creationId xmlns:a16="http://schemas.microsoft.com/office/drawing/2014/main" id="{F6DA48A6-6C42-61D3-3457-4A70A715EF2C}"/>
                </a:ext>
              </a:extLst>
            </p:cNvPr>
            <p:cNvSpPr/>
            <p:nvPr/>
          </p:nvSpPr>
          <p:spPr>
            <a:xfrm>
              <a:off x="1615949" y="4001296"/>
              <a:ext cx="784452" cy="823434"/>
            </a:xfrm>
            <a:prstGeom prst="arc">
              <a:avLst>
                <a:gd name="adj1" fmla="val 18364306"/>
                <a:gd name="adj2" fmla="val 14292027"/>
              </a:avLst>
            </a:prstGeom>
            <a:ln w="190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31B45E8-A870-F2FD-107E-54445080E0EA}"/>
                    </a:ext>
                  </a:extLst>
                </p:cNvPr>
                <p:cNvSpPr txBox="1"/>
                <p:nvPr/>
              </p:nvSpPr>
              <p:spPr>
                <a:xfrm>
                  <a:off x="2867070" y="3933656"/>
                  <a:ext cx="436979" cy="22044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ko-KR" sz="1400" i="1" smtClean="0">
                                <a:latin typeface="Cambria Math" panose="02040503050406030204" pitchFamily="18" charset="0"/>
                                <a:ea typeface="LG스마트체2.0 Regular" panose="020B0600000101010101" pitchFamily="50" charset="-127"/>
                                <a:cs typeface="Arial" pitchFamily="34" charset="0"/>
                              </a:rPr>
                            </m:ctrlPr>
                          </m:sSubSup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LG스마트체2.0 Regular" panose="020B0600000101010101" pitchFamily="50" charset="-127"/>
                                <a:cs typeface="Arial" pitchFamily="34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LG스마트체2.0 Regular" panose="020B0600000101010101" pitchFamily="50" charset="-127"/>
                                <a:cs typeface="Arial" pitchFamily="34" charset="0"/>
                              </a:rPr>
                              <m:t>𝑈</m:t>
                            </m:r>
                          </m:sub>
                          <m:sup>
                            <m:r>
                              <a:rPr lang="en-US" altLang="ko-KR" sz="1400" i="1">
                                <a:latin typeface="Cambria Math" panose="02040503050406030204" pitchFamily="18" charset="0"/>
                                <a:ea typeface="LG스마트체2.0 Regular" panose="020B0600000101010101" pitchFamily="50" charset="-127"/>
                                <a:cs typeface="Arial" pitchFamily="34" charset="0"/>
                              </a:rPr>
                              <m:t>𝑟</m:t>
                            </m:r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  <a:ea typeface="LG스마트체2.0 Regular" panose="020B0600000101010101" pitchFamily="50" charset="-127"/>
                                <a:cs typeface="Arial" pitchFamily="34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ko-KR" altLang="en-US" sz="1400" dirty="0">
                    <a:latin typeface="LG스마트체2.0 Regular" panose="020B0600000101010101" pitchFamily="50" charset="-127"/>
                    <a:ea typeface="LG스마트체2.0 Regular" panose="020B0600000101010101" pitchFamily="50" charset="-127"/>
                    <a:cs typeface="Arial" pitchFamily="34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9FA53C3-BBD5-85F7-A477-6685468141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7070" y="3933656"/>
                  <a:ext cx="436979" cy="220445"/>
                </a:xfrm>
                <a:prstGeom prst="rect">
                  <a:avLst/>
                </a:prstGeom>
                <a:blipFill>
                  <a:blip r:embed="rId5"/>
                  <a:stretch>
                    <a:fillRect l="-7042" r="-1408" b="-1944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F2A60E6-CA14-5305-82B5-FFF776683C73}"/>
                  </a:ext>
                </a:extLst>
              </p:cNvPr>
              <p:cNvSpPr txBox="1"/>
              <p:nvPr/>
            </p:nvSpPr>
            <p:spPr>
              <a:xfrm>
                <a:off x="7757750" y="3428182"/>
                <a:ext cx="1800250" cy="7217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 smtClean="0">
                            <a:latin typeface="Cambria Math" panose="02040503050406030204" pitchFamily="18" charset="0"/>
                            <a:ea typeface="LG스마트체2.0 Regular" panose="020B0600000101010101" pitchFamily="50" charset="-127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LG스마트체2.0 Regular" panose="020B0600000101010101" pitchFamily="50" charset="-127"/>
                            <a:cs typeface="Arial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LG스마트체2.0 Regular" panose="020B0600000101010101" pitchFamily="50" charset="-127"/>
                            <a:cs typeface="Arial" pitchFamily="34" charset="0"/>
                          </a:rPr>
                          <m:t>𝑇</m:t>
                        </m:r>
                      </m:sub>
                    </m:sSub>
                    <m:r>
                      <a:rPr lang="en-US" altLang="ko-KR" sz="1000" b="0" i="1" smtClean="0">
                        <a:latin typeface="Cambria Math" panose="02040503050406030204" pitchFamily="18" charset="0"/>
                        <a:ea typeface="LG스마트체2.0 Regular" panose="020B0600000101010101" pitchFamily="50" charset="-127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altLang="ko-KR" sz="1000" dirty="0"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: training set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000" i="1" smtClean="0">
                            <a:latin typeface="Cambria Math" panose="02040503050406030204" pitchFamily="18" charset="0"/>
                            <a:ea typeface="LG스마트체2.0 Regular" panose="020B0600000101010101" pitchFamily="50" charset="-127"/>
                            <a:cs typeface="Arial" pitchFamily="34" charset="0"/>
                          </a:rPr>
                        </m:ctrlPr>
                      </m:sSubSup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LG스마트체2.0 Regular" panose="020B0600000101010101" pitchFamily="50" charset="-127"/>
                            <a:cs typeface="Arial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LG스마트체2.0 Regular" panose="020B0600000101010101" pitchFamily="50" charset="-127"/>
                            <a:cs typeface="Arial" pitchFamily="34" charset="0"/>
                          </a:rPr>
                          <m:t>𝐿</m:t>
                        </m:r>
                      </m:sub>
                      <m:sup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LG스마트체2.0 Regular" panose="020B0600000101010101" pitchFamily="50" charset="-127"/>
                            <a:cs typeface="Arial" pitchFamily="34" charset="0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en-US" altLang="ko-KR" sz="1000" dirty="0"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 : Labeled set at cycle </a:t>
                </a:r>
                <a14:m>
                  <m:oMath xmlns:m="http://schemas.openxmlformats.org/officeDocument/2006/math">
                    <m:r>
                      <a:rPr lang="en-US" altLang="ko-KR" sz="1000" b="0" i="1" smtClean="0">
                        <a:latin typeface="Cambria Math" panose="02040503050406030204" pitchFamily="18" charset="0"/>
                        <a:ea typeface="LG스마트체2.0 Regular" panose="020B0600000101010101" pitchFamily="50" charset="-127"/>
                        <a:cs typeface="Arial" pitchFamily="34" charset="0"/>
                      </a:rPr>
                      <m:t>𝑟</m:t>
                    </m:r>
                  </m:oMath>
                </a14:m>
                <a:endParaRPr lang="en-US" altLang="ko-KR" sz="1000" dirty="0">
                  <a:latin typeface="Times New Roman" panose="02020603050405020304" pitchFamily="18" charset="0"/>
                  <a:ea typeface="LG스마트체2.0 Regular" panose="020B0600000101010101" pitchFamily="50" charset="-127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000" i="1" smtClean="0">
                            <a:latin typeface="Cambria Math" panose="02040503050406030204" pitchFamily="18" charset="0"/>
                            <a:ea typeface="LG스마트체2.0 Regular" panose="020B0600000101010101" pitchFamily="50" charset="-127"/>
                            <a:cs typeface="Arial" pitchFamily="34" charset="0"/>
                          </a:rPr>
                        </m:ctrlPr>
                      </m:sSubSup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LG스마트체2.0 Regular" panose="020B0600000101010101" pitchFamily="50" charset="-127"/>
                            <a:cs typeface="Arial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LG스마트체2.0 Regular" panose="020B0600000101010101" pitchFamily="50" charset="-127"/>
                            <a:cs typeface="Arial" pitchFamily="34" charset="0"/>
                          </a:rPr>
                          <m:t>𝑈</m:t>
                        </m:r>
                      </m:sub>
                      <m:sup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LG스마트체2.0 Regular" panose="020B0600000101010101" pitchFamily="50" charset="-127"/>
                            <a:cs typeface="Arial" pitchFamily="34" charset="0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ko-KR" altLang="en-US" sz="1000" dirty="0"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sz="1000" dirty="0"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: Unlabeled set at cycle </a:t>
                </a:r>
                <a14:m>
                  <m:oMath xmlns:m="http://schemas.openxmlformats.org/officeDocument/2006/math">
                    <m:r>
                      <a:rPr lang="en-US" altLang="ko-KR" sz="1000" i="1">
                        <a:latin typeface="Cambria Math" panose="02040503050406030204" pitchFamily="18" charset="0"/>
                        <a:ea typeface="LG스마트체2.0 Regular" panose="020B0600000101010101" pitchFamily="50" charset="-127"/>
                        <a:cs typeface="Arial" pitchFamily="34" charset="0"/>
                      </a:rPr>
                      <m:t>𝑟</m:t>
                    </m:r>
                  </m:oMath>
                </a14:m>
                <a:endParaRPr lang="en-US" altLang="ko-KR" sz="1000" dirty="0">
                  <a:latin typeface="Times New Roman" panose="02020603050405020304" pitchFamily="18" charset="0"/>
                  <a:ea typeface="LG스마트체2.0 Regular" panose="020B0600000101010101" pitchFamily="50" charset="-127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000" i="1" smtClean="0">
                            <a:latin typeface="Cambria Math" panose="02040503050406030204" pitchFamily="18" charset="0"/>
                            <a:ea typeface="LG스마트체2.0 Regular" panose="020B0600000101010101" pitchFamily="50" charset="-127"/>
                            <a:cs typeface="Arial" pitchFamily="34" charset="0"/>
                          </a:rPr>
                        </m:ctrlPr>
                      </m:sSubSupPr>
                      <m:e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LG스마트체2.0 Regular" panose="020B0600000101010101" pitchFamily="50" charset="-127"/>
                            <a:cs typeface="Arial" pitchFamily="34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LG스마트체2.0 Regular" panose="020B0600000101010101" pitchFamily="50" charset="-127"/>
                            <a:cs typeface="Arial" pitchFamily="34" charset="0"/>
                          </a:rPr>
                          <m:t>𝑄</m:t>
                        </m:r>
                      </m:sub>
                      <m:sup>
                        <m:r>
                          <a:rPr lang="en-US" altLang="ko-KR" sz="1000" b="0" i="1" smtClean="0">
                            <a:latin typeface="Cambria Math" panose="02040503050406030204" pitchFamily="18" charset="0"/>
                            <a:ea typeface="LG스마트체2.0 Regular" panose="020B0600000101010101" pitchFamily="50" charset="-127"/>
                            <a:cs typeface="Arial" pitchFamily="34" charset="0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en-US" altLang="ko-KR" sz="1000" dirty="0"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 : Selected query at cycle </a:t>
                </a:r>
                <a14:m>
                  <m:oMath xmlns:m="http://schemas.openxmlformats.org/officeDocument/2006/math">
                    <m:r>
                      <a:rPr lang="en-US" altLang="ko-KR" sz="1000" i="1">
                        <a:latin typeface="Cambria Math" panose="02040503050406030204" pitchFamily="18" charset="0"/>
                        <a:ea typeface="LG스마트체2.0 Regular" panose="020B0600000101010101" pitchFamily="50" charset="-127"/>
                        <a:cs typeface="Arial" pitchFamily="34" charset="0"/>
                      </a:rPr>
                      <m:t>𝑟</m:t>
                    </m:r>
                  </m:oMath>
                </a14:m>
                <a:endParaRPr lang="en-US" altLang="ko-KR" sz="1000" dirty="0">
                  <a:latin typeface="Times New Roman" panose="02020603050405020304" pitchFamily="18" charset="0"/>
                  <a:ea typeface="LG스마트체2.0 Regular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F2A60E6-CA14-5305-82B5-FFF776683C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7750" y="3428182"/>
                <a:ext cx="1800250" cy="721736"/>
              </a:xfrm>
              <a:prstGeom prst="rect">
                <a:avLst/>
              </a:prstGeom>
              <a:blipFill>
                <a:blip r:embed="rId6"/>
                <a:stretch>
                  <a:fillRect b="-8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그룹 12">
            <a:extLst>
              <a:ext uri="{FF2B5EF4-FFF2-40B4-BE49-F238E27FC236}">
                <a16:creationId xmlns:a16="http://schemas.microsoft.com/office/drawing/2014/main" id="{8970597C-BF74-B14B-F18D-B98484EBB9CC}"/>
              </a:ext>
            </a:extLst>
          </p:cNvPr>
          <p:cNvGrpSpPr/>
          <p:nvPr/>
        </p:nvGrpSpPr>
        <p:grpSpPr>
          <a:xfrm>
            <a:off x="1856570" y="3897358"/>
            <a:ext cx="2195630" cy="2268022"/>
            <a:chOff x="1856570" y="2831917"/>
            <a:chExt cx="2195630" cy="2268022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5111F25-EA3C-E9BC-04F4-6937D5E02148}"/>
                </a:ext>
              </a:extLst>
            </p:cNvPr>
            <p:cNvGrpSpPr/>
            <p:nvPr/>
          </p:nvGrpSpPr>
          <p:grpSpPr>
            <a:xfrm>
              <a:off x="1856570" y="2831917"/>
              <a:ext cx="2195630" cy="2268022"/>
              <a:chOff x="1352500" y="2961228"/>
              <a:chExt cx="2195630" cy="2268022"/>
            </a:xfrm>
          </p:grpSpPr>
          <p:sp>
            <p:nvSpPr>
              <p:cNvPr id="17" name="원호 16">
                <a:extLst>
                  <a:ext uri="{FF2B5EF4-FFF2-40B4-BE49-F238E27FC236}">
                    <a16:creationId xmlns:a16="http://schemas.microsoft.com/office/drawing/2014/main" id="{78983A22-CCCD-29DF-5F44-C5897565E04E}"/>
                  </a:ext>
                </a:extLst>
              </p:cNvPr>
              <p:cNvSpPr/>
              <p:nvPr/>
            </p:nvSpPr>
            <p:spPr>
              <a:xfrm>
                <a:off x="1352500" y="3068950"/>
                <a:ext cx="2195630" cy="2160300"/>
              </a:xfrm>
              <a:prstGeom prst="arc">
                <a:avLst>
                  <a:gd name="adj1" fmla="val 16874621"/>
                  <a:gd name="adj2" fmla="val 15422596"/>
                </a:avLst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77E22E93-9EFA-4B27-1D4F-6DCF4C7F69DD}"/>
                      </a:ext>
                    </a:extLst>
                  </p:cNvPr>
                  <p:cNvSpPr txBox="1"/>
                  <p:nvPr/>
                </p:nvSpPr>
                <p:spPr>
                  <a:xfrm>
                    <a:off x="2316304" y="2961228"/>
                    <a:ext cx="268022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Arial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Arial" pitchFamily="34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Arial" pitchFamily="34" charset="0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sz="1400" dirty="0">
                      <a:latin typeface="LG스마트체2.0 Regular" panose="020B0600000101010101" pitchFamily="50" charset="-127"/>
                      <a:ea typeface="LG스마트체2.0 Regular" panose="020B0600000101010101" pitchFamily="50" charset="-127"/>
                      <a:cs typeface="Arial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B0D459E6-CEE6-0E5D-1EF2-396CB90C65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16304" y="2961228"/>
                    <a:ext cx="268022" cy="21544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1364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B5BEC6B6-DA28-CF9B-BF27-53316EE3551D}"/>
                      </a:ext>
                    </a:extLst>
                  </p:cNvPr>
                  <p:cNvSpPr txBox="1"/>
                  <p:nvPr/>
                </p:nvSpPr>
                <p:spPr>
                  <a:xfrm>
                    <a:off x="1856570" y="3933656"/>
                    <a:ext cx="26706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Arial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Arial" pitchFamily="34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Arial" pitchFamily="34" charset="0"/>
                                </a:rPr>
                                <m:t>𝐿</m:t>
                              </m:r>
                            </m:sub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Arial" pitchFamily="34" charset="0"/>
                                </a:rPr>
                                <m:t>𝑟</m:t>
                              </m:r>
                            </m:sup>
                          </m:sSubSup>
                        </m:oMath>
                      </m:oMathPara>
                    </a14:m>
                    <a:endParaRPr lang="ko-KR" altLang="en-US" sz="1400" dirty="0">
                      <a:latin typeface="LG스마트체2.0 Regular" panose="020B0600000101010101" pitchFamily="50" charset="-127"/>
                      <a:ea typeface="LG스마트체2.0 Regular" panose="020B0600000101010101" pitchFamily="50" charset="-127"/>
                      <a:cs typeface="Arial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B1AA24FE-BC64-D6BB-A5EC-C508F0888F3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6570" y="3933656"/>
                    <a:ext cx="267061" cy="2154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1364" b="-2285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원호 19">
                <a:extLst>
                  <a:ext uri="{FF2B5EF4-FFF2-40B4-BE49-F238E27FC236}">
                    <a16:creationId xmlns:a16="http://schemas.microsoft.com/office/drawing/2014/main" id="{684C6FE1-1BFC-F54C-9B65-FC1E6710BA74}"/>
                  </a:ext>
                </a:extLst>
              </p:cNvPr>
              <p:cNvSpPr/>
              <p:nvPr/>
            </p:nvSpPr>
            <p:spPr>
              <a:xfrm>
                <a:off x="1669916" y="4024105"/>
                <a:ext cx="626453" cy="665069"/>
              </a:xfrm>
              <a:prstGeom prst="arc">
                <a:avLst>
                  <a:gd name="adj1" fmla="val 17908701"/>
                  <a:gd name="adj2" fmla="val 14292027"/>
                </a:avLst>
              </a:prstGeom>
              <a:ln w="1905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F71EAF8C-49FB-5751-4A7B-8936FCE4D36B}"/>
                      </a:ext>
                    </a:extLst>
                  </p:cNvPr>
                  <p:cNvSpPr txBox="1"/>
                  <p:nvPr/>
                </p:nvSpPr>
                <p:spPr>
                  <a:xfrm>
                    <a:off x="2867070" y="3933656"/>
                    <a:ext cx="275395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Arial" pitchFamily="34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Arial" pitchFamily="34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Arial" pitchFamily="34" charset="0"/>
                                </a:rPr>
                                <m:t>𝑈</m:t>
                              </m:r>
                            </m:sub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  <a:ea typeface="LG스마트체2.0 Regular" panose="020B0600000101010101" pitchFamily="50" charset="-127"/>
                                  <a:cs typeface="Arial" pitchFamily="34" charset="0"/>
                                </a:rPr>
                                <m:t>𝑟</m:t>
                              </m:r>
                            </m:sup>
                          </m:sSubSup>
                        </m:oMath>
                      </m:oMathPara>
                    </a14:m>
                    <a:endParaRPr lang="ko-KR" altLang="en-US" sz="1400" dirty="0">
                      <a:latin typeface="LG스마트체2.0 Regular" panose="020B0600000101010101" pitchFamily="50" charset="-127"/>
                      <a:ea typeface="LG스마트체2.0 Regular" panose="020B0600000101010101" pitchFamily="50" charset="-127"/>
                      <a:cs typeface="Arial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982FDC7F-DB97-1614-4257-ED00220BF58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67070" y="3933656"/>
                    <a:ext cx="275395" cy="2154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1111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8F253D3-23B2-5BD2-B0D1-9BD44054EA95}"/>
                </a:ext>
              </a:extLst>
            </p:cNvPr>
            <p:cNvSpPr/>
            <p:nvPr/>
          </p:nvSpPr>
          <p:spPr>
            <a:xfrm>
              <a:off x="3062478" y="4333058"/>
              <a:ext cx="489186" cy="483030"/>
            </a:xfrm>
            <a:prstGeom prst="ellips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8A2FA8F-4463-E9C5-8F21-C0DF4B791A21}"/>
                    </a:ext>
                  </a:extLst>
                </p:cNvPr>
                <p:cNvSpPr txBox="1"/>
                <p:nvPr/>
              </p:nvSpPr>
              <p:spPr>
                <a:xfrm>
                  <a:off x="3149680" y="4411738"/>
                  <a:ext cx="314782" cy="3349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𝑄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𝑟</m:t>
                          </m:r>
                        </m:sup>
                      </m:sSubSup>
                    </m:oMath>
                  </a14:m>
                  <a:r>
                    <a:rPr lang="en-US" altLang="ko-KR" sz="1400" dirty="0">
                      <a:latin typeface="LG스마트체2.0 Regular" panose="020B0600000101010101" pitchFamily="50" charset="-127"/>
                      <a:ea typeface="LG스마트체2.0 Regular" panose="020B0600000101010101" pitchFamily="50" charset="-127"/>
                      <a:cs typeface="Arial" pitchFamily="34" charset="0"/>
                    </a:rPr>
                    <a:t> </a:t>
                  </a:r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8F22D9D-F681-2586-E557-496F981FD7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9680" y="4411738"/>
                  <a:ext cx="314782" cy="334963"/>
                </a:xfrm>
                <a:prstGeom prst="rect">
                  <a:avLst/>
                </a:prstGeom>
                <a:blipFill>
                  <a:blip r:embed="rId9"/>
                  <a:stretch>
                    <a:fillRect r="-11765" b="-181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CE82423-3F86-281F-91FE-0E9473043DD4}"/>
              </a:ext>
            </a:extLst>
          </p:cNvPr>
          <p:cNvCxnSpPr/>
          <p:nvPr/>
        </p:nvCxnSpPr>
        <p:spPr>
          <a:xfrm>
            <a:off x="4345230" y="5013220"/>
            <a:ext cx="12215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E006EC8-5E3F-EC5E-4869-8578E56AD126}"/>
                  </a:ext>
                </a:extLst>
              </p:cNvPr>
              <p:cNvSpPr txBox="1"/>
              <p:nvPr/>
            </p:nvSpPr>
            <p:spPr>
              <a:xfrm>
                <a:off x="4270045" y="4589019"/>
                <a:ext cx="1287404" cy="2425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𝐿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𝑟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+1</m:t>
                          </m:r>
                        </m:sup>
                      </m:sSubSup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𝐿</m:t>
                          </m:r>
                        </m:sub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𝑟</m:t>
                          </m:r>
                        </m:sup>
                      </m:sSubSup>
                      <m:r>
                        <a:rPr lang="en-US" altLang="ko-KR" sz="1400" i="1">
                          <a:latin typeface="Cambria Math" panose="02040503050406030204" pitchFamily="18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m:t>∪</m:t>
                      </m:r>
                      <m:sSubSup>
                        <m:sSubSup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𝑄</m:t>
                          </m:r>
                        </m:sub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𝑟</m:t>
                          </m:r>
                        </m:sup>
                      </m:sSubSup>
                    </m:oMath>
                  </m:oMathPara>
                </a14:m>
                <a:endParaRPr lang="ko-KR" altLang="en-US" sz="1400" dirty="0"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E006EC8-5E3F-EC5E-4869-8578E56AD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0045" y="4589019"/>
                <a:ext cx="1287404" cy="242567"/>
              </a:xfrm>
              <a:prstGeom prst="rect">
                <a:avLst/>
              </a:prstGeom>
              <a:blipFill>
                <a:blip r:embed="rId10"/>
                <a:stretch>
                  <a:fillRect l="-1887" r="-943" b="-2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64E3B4B-2ACD-3EAA-A553-D084CB69CE3C}"/>
                  </a:ext>
                </a:extLst>
              </p:cNvPr>
              <p:cNvSpPr txBox="1"/>
              <p:nvPr/>
            </p:nvSpPr>
            <p:spPr>
              <a:xfrm>
                <a:off x="4276455" y="5189634"/>
                <a:ext cx="1308563" cy="2425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</m:ctrlPr>
                        </m:sSub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𝑈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𝑟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+1</m:t>
                          </m:r>
                        </m:sup>
                      </m:sSubSup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𝑈</m:t>
                          </m:r>
                        </m:sub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𝑟</m:t>
                          </m:r>
                        </m:sup>
                      </m:sSubSup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LG스마트체2.0 Regular" panose="020B0600000101010101" pitchFamily="50" charset="-127"/>
                          <a:cs typeface="Arial" pitchFamily="34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ko-KR" sz="1400" i="1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</m:ctrlPr>
                        </m:sSubSup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𝑄</m:t>
                          </m:r>
                        </m:sub>
                        <m:sup>
                          <m:r>
                            <a:rPr lang="en-US" altLang="ko-KR" sz="1400" i="1">
                              <a:latin typeface="Cambria Math" panose="02040503050406030204" pitchFamily="18" charset="0"/>
                              <a:ea typeface="LG스마트체2.0 Regular" panose="020B0600000101010101" pitchFamily="50" charset="-127"/>
                              <a:cs typeface="Arial" pitchFamily="34" charset="0"/>
                            </a:rPr>
                            <m:t>𝑟</m:t>
                          </m:r>
                        </m:sup>
                      </m:sSubSup>
                    </m:oMath>
                  </m:oMathPara>
                </a14:m>
                <a:endParaRPr lang="ko-KR" altLang="en-US" sz="1400" dirty="0">
                  <a:latin typeface="LG스마트체2.0 Regular" panose="020B0600000101010101" pitchFamily="50" charset="-127"/>
                  <a:ea typeface="LG스마트체2.0 Regular" panose="020B0600000101010101" pitchFamily="50" charset="-127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64E3B4B-2ACD-3EAA-A553-D084CB69C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455" y="5189634"/>
                <a:ext cx="1308563" cy="242567"/>
              </a:xfrm>
              <a:prstGeom prst="rect">
                <a:avLst/>
              </a:prstGeom>
              <a:blipFill>
                <a:blip r:embed="rId11"/>
                <a:stretch>
                  <a:fillRect l="-1869" r="-935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0C356F3-AB49-B56B-9B89-2D95B113AAEF}"/>
                  </a:ext>
                </a:extLst>
              </p:cNvPr>
              <p:cNvSpPr txBox="1"/>
              <p:nvPr/>
            </p:nvSpPr>
            <p:spPr>
              <a:xfrm>
                <a:off x="1684919" y="3589581"/>
                <a:ext cx="89396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400" i="1" smtClean="0">
                        <a:latin typeface="Cambria Math" panose="02040503050406030204" pitchFamily="18" charset="0"/>
                        <a:ea typeface="LG스마트체2.0 Regular" panose="020B0600000101010101" pitchFamily="50" charset="-127"/>
                        <a:cs typeface="Arial" pitchFamily="34" charset="0"/>
                      </a:rPr>
                      <m:t>𝑟</m:t>
                    </m:r>
                    <m:r>
                      <a:rPr lang="en-US" altLang="ko-KR" sz="1400" i="1" smtClean="0">
                        <a:latin typeface="Cambria Math" panose="02040503050406030204" pitchFamily="18" charset="0"/>
                        <a:ea typeface="LG스마트체2.0 Regular" panose="020B0600000101010101" pitchFamily="50" charset="-127"/>
                        <a:cs typeface="Arial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  <a:ea typeface="LG스마트체2.0 Regular" panose="020B0600000101010101" pitchFamily="50" charset="-127"/>
                        <a:cs typeface="Arial" pitchFamily="34" charset="0"/>
                      </a:rPr>
                      <m:t>th</m:t>
                    </m:r>
                    <m:r>
                      <a:rPr lang="en-US" altLang="ko-KR" sz="1400" b="0" i="0" smtClean="0">
                        <a:latin typeface="Cambria Math" panose="02040503050406030204" pitchFamily="18" charset="0"/>
                        <a:ea typeface="LG스마트체2.0 Regular" panose="020B0600000101010101" pitchFamily="50" charset="-127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cycle</a:t>
                </a:r>
                <a:endParaRPr lang="ko-KR" altLang="en-US" sz="1400" dirty="0">
                  <a:latin typeface="Times New Roman" panose="02020603050405020304" pitchFamily="18" charset="0"/>
                  <a:ea typeface="LG스마트체2.0 Regular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0C356F3-AB49-B56B-9B89-2D95B113A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919" y="3589581"/>
                <a:ext cx="893963" cy="307777"/>
              </a:xfrm>
              <a:prstGeom prst="rect">
                <a:avLst/>
              </a:prstGeom>
              <a:blipFill>
                <a:blip r:embed="rId12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45164F5-8D9D-60C4-A419-2FF07E884D23}"/>
                  </a:ext>
                </a:extLst>
              </p:cNvPr>
              <p:cNvSpPr txBox="1"/>
              <p:nvPr/>
            </p:nvSpPr>
            <p:spPr>
              <a:xfrm>
                <a:off x="5522593" y="3589580"/>
                <a:ext cx="120776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400" i="1" smtClean="0">
                        <a:latin typeface="Cambria Math" panose="02040503050406030204" pitchFamily="18" charset="0"/>
                        <a:ea typeface="LG스마트체2.0 Regular" panose="020B0600000101010101" pitchFamily="50" charset="-127"/>
                        <a:cs typeface="Arial" pitchFamily="34" charset="0"/>
                      </a:rPr>
                      <m:t>𝑟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LG스마트체2.0 Regular" panose="020B0600000101010101" pitchFamily="50" charset="-127"/>
                        <a:cs typeface="Arial" pitchFamily="34" charset="0"/>
                      </a:rPr>
                      <m:t>+1</m:t>
                    </m:r>
                    <m:r>
                      <a:rPr lang="en-US" altLang="ko-KR" sz="1400" i="1" smtClean="0">
                        <a:latin typeface="Cambria Math" panose="02040503050406030204" pitchFamily="18" charset="0"/>
                        <a:ea typeface="LG스마트체2.0 Regular" panose="020B0600000101010101" pitchFamily="50" charset="-127"/>
                        <a:cs typeface="Arial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sz="1400" b="0" i="0" smtClean="0">
                        <a:latin typeface="Cambria Math" panose="02040503050406030204" pitchFamily="18" charset="0"/>
                        <a:ea typeface="LG스마트체2.0 Regular" panose="020B0600000101010101" pitchFamily="50" charset="-127"/>
                        <a:cs typeface="Arial" pitchFamily="34" charset="0"/>
                      </a:rPr>
                      <m:t>th</m:t>
                    </m:r>
                    <m:r>
                      <a:rPr lang="en-US" altLang="ko-KR" sz="1400" b="0" i="0" smtClean="0">
                        <a:latin typeface="Cambria Math" panose="02040503050406030204" pitchFamily="18" charset="0"/>
                        <a:ea typeface="LG스마트체2.0 Regular" panose="020B0600000101010101" pitchFamily="50" charset="-127"/>
                        <a:cs typeface="Arial" pitchFamily="34" charset="0"/>
                      </a:rPr>
                      <m:t> </m:t>
                    </m:r>
                  </m:oMath>
                </a14:m>
                <a:r>
                  <a:rPr lang="en-US" altLang="ko-KR" sz="1400" dirty="0"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cycle</a:t>
                </a:r>
                <a:endParaRPr lang="ko-KR" altLang="en-US" sz="1400" dirty="0">
                  <a:latin typeface="Times New Roman" panose="02020603050405020304" pitchFamily="18" charset="0"/>
                  <a:ea typeface="LG스마트체2.0 Regular" panose="020B0600000101010101" pitchFamily="50" charset="-127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45164F5-8D9D-60C4-A419-2FF07E884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593" y="3589580"/>
                <a:ext cx="1207767" cy="307777"/>
              </a:xfrm>
              <a:prstGeom prst="rect">
                <a:avLst/>
              </a:prstGeom>
              <a:blipFill>
                <a:blip r:embed="rId13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31A71B1-83C3-370D-F58E-E212D60EEE0F}"/>
              </a:ext>
            </a:extLst>
          </p:cNvPr>
          <p:cNvSpPr txBox="1"/>
          <p:nvPr/>
        </p:nvSpPr>
        <p:spPr>
          <a:xfrm>
            <a:off x="3147234" y="6113239"/>
            <a:ext cx="36055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&lt;Active</a:t>
            </a:r>
            <a:r>
              <a:rPr lang="ko-KR" altLang="en-US" sz="120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 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learning</a:t>
            </a:r>
            <a:r>
              <a:rPr lang="ko-KR" altLang="en-US" sz="120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에서의 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labeled set </a:t>
            </a:r>
            <a:r>
              <a:rPr lang="ko-KR" altLang="en-US" sz="120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업데이트 과정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ea typeface="+mn-ea"/>
                <a:cs typeface="Arial" pitchFamily="34" charset="0"/>
              </a:rPr>
              <a:t>&gt;</a:t>
            </a:r>
            <a:endParaRPr lang="ko-KR" altLang="en-US" sz="1200" dirty="0">
              <a:solidFill>
                <a:prstClr val="black"/>
              </a:solidFill>
              <a:latin typeface="+mn-ea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89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C40ED-0547-20EB-53DE-07D2247ED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B9C3A-7637-542C-CC68-93A94AA64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주제 및 목표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4ED8B5-5860-51D5-1421-76730AFE0414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ko-KR" altLang="en-US" dirty="0"/>
              <a:t>목표</a:t>
            </a:r>
            <a:endParaRPr lang="en-US" altLang="ko-KR" dirty="0"/>
          </a:p>
          <a:p>
            <a:pPr lvl="1"/>
            <a:r>
              <a:rPr lang="ko-KR" altLang="en-US" b="1" dirty="0"/>
              <a:t>같은 양의 </a:t>
            </a:r>
            <a:r>
              <a:rPr lang="en-US" altLang="ko-KR" b="1" dirty="0"/>
              <a:t>labeled </a:t>
            </a:r>
            <a:r>
              <a:rPr lang="ko-KR" altLang="en-US" b="1" dirty="0"/>
              <a:t>데이터에 대하여</a:t>
            </a:r>
            <a:r>
              <a:rPr lang="en-US" altLang="ko-KR" b="1" dirty="0"/>
              <a:t>, r</a:t>
            </a:r>
            <a:r>
              <a:rPr lang="en-US" b="1" dirty="0"/>
              <a:t>andom sampling </a:t>
            </a:r>
            <a:r>
              <a:rPr lang="ko-KR" altLang="en-US" b="1" dirty="0"/>
              <a:t>기법보다 높은 성능 달성</a:t>
            </a:r>
            <a:endParaRPr lang="en-US" altLang="ko-KR" b="1" dirty="0"/>
          </a:p>
          <a:p>
            <a:pPr lvl="2"/>
            <a:r>
              <a:rPr lang="en-US" dirty="0"/>
              <a:t>Random sampling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en-US" dirty="0"/>
          </a:p>
          <a:p>
            <a:pPr lvl="3"/>
            <a:r>
              <a:rPr lang="ko-KR" altLang="en-US" dirty="0"/>
              <a:t>매 </a:t>
            </a:r>
            <a:r>
              <a:rPr lang="en-US" altLang="ko-KR" dirty="0"/>
              <a:t>cycle </a:t>
            </a:r>
            <a:r>
              <a:rPr lang="ko-KR" altLang="en-US" dirty="0"/>
              <a:t>마다 </a:t>
            </a:r>
            <a:r>
              <a:rPr lang="en-US" altLang="ko-KR" dirty="0"/>
              <a:t>labeled set</a:t>
            </a:r>
            <a:r>
              <a:rPr lang="ko-KR" altLang="en-US" dirty="0"/>
              <a:t>을 업데이트 할 때</a:t>
            </a:r>
            <a:r>
              <a:rPr lang="en-US" altLang="ko-KR" dirty="0"/>
              <a:t>, unlabeled set</a:t>
            </a:r>
            <a:r>
              <a:rPr lang="ko-KR" altLang="en-US" dirty="0"/>
              <a:t>에서 무작위로 샘플들을 추가하는 기법</a:t>
            </a:r>
            <a:endParaRPr lang="en-US" altLang="ko-KR" dirty="0"/>
          </a:p>
          <a:p>
            <a:pPr lvl="3"/>
            <a:r>
              <a:rPr lang="en-US" altLang="ko-KR" dirty="0"/>
              <a:t>Random seed </a:t>
            </a:r>
            <a:r>
              <a:rPr lang="ko-KR" altLang="en-US" dirty="0"/>
              <a:t>값에 따라 성능 차이가 존재</a:t>
            </a:r>
            <a:endParaRPr lang="en-US" altLang="ko-KR" dirty="0"/>
          </a:p>
          <a:p>
            <a:pPr lvl="2"/>
            <a:r>
              <a:rPr lang="ko-KR" altLang="en-US" b="1" dirty="0"/>
              <a:t>동일한 </a:t>
            </a:r>
            <a:r>
              <a:rPr lang="en-US" altLang="ko-KR" b="1" dirty="0"/>
              <a:t>random seed </a:t>
            </a:r>
            <a:r>
              <a:rPr lang="ko-KR" altLang="en-US" b="1" dirty="0"/>
              <a:t>값에 대하여</a:t>
            </a:r>
            <a:r>
              <a:rPr lang="en-US" altLang="ko-KR" b="1" dirty="0"/>
              <a:t>, </a:t>
            </a:r>
            <a:r>
              <a:rPr lang="ko-KR" altLang="en-US" b="1" dirty="0"/>
              <a:t>같은 </a:t>
            </a:r>
            <a:r>
              <a:rPr lang="en-US" altLang="ko-KR" b="1" dirty="0"/>
              <a:t>cycle</a:t>
            </a:r>
            <a:r>
              <a:rPr lang="ko-KR" altLang="en-US" b="1" dirty="0"/>
              <a:t>에서 더 높은 성능을 발휘하는 모델 학습이 목표</a:t>
            </a:r>
            <a:endParaRPr lang="en-US" altLang="ko-KR" b="1" dirty="0"/>
          </a:p>
          <a:p>
            <a:pPr lvl="3"/>
            <a:r>
              <a:rPr lang="ko-KR" altLang="en-US" dirty="0"/>
              <a:t>같은 </a:t>
            </a:r>
            <a:r>
              <a:rPr lang="en-US" altLang="ko-KR" dirty="0"/>
              <a:t>cycle</a:t>
            </a:r>
            <a:r>
              <a:rPr lang="ko-KR" altLang="en-US" dirty="0"/>
              <a:t>에서는 같은 양의 </a:t>
            </a:r>
            <a:r>
              <a:rPr lang="en-US" altLang="ko-KR" dirty="0"/>
              <a:t>labeled </a:t>
            </a:r>
            <a:r>
              <a:rPr lang="ko-KR" altLang="en-US" dirty="0"/>
              <a:t>데이터를 활용</a:t>
            </a:r>
            <a:endParaRPr lang="en-US" altLang="ko-KR" dirty="0"/>
          </a:p>
          <a:p>
            <a:pPr lvl="3"/>
            <a:r>
              <a:rPr lang="ko-KR" altLang="en-US" dirty="0"/>
              <a:t>양은 같지만</a:t>
            </a:r>
            <a:r>
              <a:rPr lang="en-US" altLang="ko-KR" dirty="0"/>
              <a:t> </a:t>
            </a:r>
            <a:r>
              <a:rPr lang="ko-KR" altLang="en-US" dirty="0"/>
              <a:t>높은 성능을 보이는 것은 </a:t>
            </a:r>
            <a:r>
              <a:rPr lang="en-US" altLang="ko-KR" b="1" dirty="0"/>
              <a:t>labeled set</a:t>
            </a:r>
            <a:r>
              <a:rPr lang="ko-KR" altLang="en-US" b="1" dirty="0"/>
              <a:t>이 정보량이 많은 데이터들로 구성되어 있음</a:t>
            </a:r>
            <a:r>
              <a:rPr lang="ko-KR" altLang="en-US" dirty="0"/>
              <a:t>을 의미</a:t>
            </a:r>
            <a:endParaRPr lang="en-US" dirty="0"/>
          </a:p>
          <a:p>
            <a:pPr lvl="3"/>
            <a:endParaRPr lang="en-US" dirty="0"/>
          </a:p>
          <a:p>
            <a:pPr lvl="1"/>
            <a:r>
              <a:rPr lang="ko-KR" altLang="en-US" b="1" dirty="0"/>
              <a:t>효과적인 </a:t>
            </a:r>
            <a:r>
              <a:rPr lang="en-US" altLang="ko-KR" b="1" dirty="0"/>
              <a:t>sampling</a:t>
            </a:r>
            <a:r>
              <a:rPr lang="ko-KR" altLang="en-US" b="1" dirty="0"/>
              <a:t>을 위한 최적의 </a:t>
            </a:r>
            <a:r>
              <a:rPr lang="en-US" b="1" dirty="0"/>
              <a:t>DQN</a:t>
            </a:r>
            <a:r>
              <a:rPr lang="ko-KR" altLang="en-US" b="1" dirty="0"/>
              <a:t> 구현</a:t>
            </a:r>
            <a:endParaRPr lang="en-US" altLang="ko-KR" b="1" dirty="0"/>
          </a:p>
          <a:p>
            <a:pPr lvl="2"/>
            <a:r>
              <a:rPr lang="en-US" altLang="ko-KR" b="1" dirty="0"/>
              <a:t>Gradient step </a:t>
            </a:r>
            <a:r>
              <a:rPr lang="ko-KR" altLang="en-US" b="1" dirty="0"/>
              <a:t>변화 실험을 진행</a:t>
            </a:r>
            <a:r>
              <a:rPr lang="ko-KR" altLang="en-US" dirty="0"/>
              <a:t>하여</a:t>
            </a:r>
            <a:r>
              <a:rPr lang="en-US" altLang="ko-KR" dirty="0"/>
              <a:t>, </a:t>
            </a:r>
            <a:r>
              <a:rPr lang="ko-KR" altLang="en-US" dirty="0"/>
              <a:t>가장 효과적인 </a:t>
            </a:r>
            <a:r>
              <a:rPr lang="en-US" altLang="ko-KR" dirty="0"/>
              <a:t>sampling</a:t>
            </a:r>
            <a:r>
              <a:rPr lang="ko-KR" altLang="en-US" dirty="0"/>
              <a:t>을 위한 최적의 </a:t>
            </a:r>
            <a:r>
              <a:rPr lang="en-US" altLang="ko-KR" dirty="0"/>
              <a:t>DQN</a:t>
            </a:r>
            <a:r>
              <a:rPr lang="ko-KR" altLang="en-US" dirty="0"/>
              <a:t>을 구현</a:t>
            </a:r>
            <a:endParaRPr lang="en-US" altLang="ko-KR" dirty="0"/>
          </a:p>
          <a:p>
            <a:pPr lvl="3"/>
            <a:r>
              <a:rPr lang="en-US" dirty="0"/>
              <a:t>State, action, reward </a:t>
            </a:r>
            <a:r>
              <a:rPr lang="ko-KR" altLang="en-US" dirty="0"/>
              <a:t>세팅 및 </a:t>
            </a:r>
            <a:r>
              <a:rPr lang="en-US" altLang="ko-KR" dirty="0"/>
              <a:t>random seed </a:t>
            </a:r>
            <a:r>
              <a:rPr lang="ko-KR" altLang="en-US" dirty="0"/>
              <a:t>값은 고정</a:t>
            </a:r>
            <a:endParaRPr lang="en-US" altLang="ko-KR" dirty="0"/>
          </a:p>
          <a:p>
            <a:pPr lvl="3"/>
            <a:r>
              <a:rPr lang="ko-KR" altLang="en-US" b="1" dirty="0"/>
              <a:t>같은 </a:t>
            </a:r>
            <a:r>
              <a:rPr lang="en-US" altLang="ko-KR" b="1" dirty="0"/>
              <a:t>cycle</a:t>
            </a:r>
            <a:r>
              <a:rPr lang="ko-KR" altLang="en-US" b="1" dirty="0"/>
              <a:t>에서 가장 높은 성능을 발휘하는 최적의 </a:t>
            </a:r>
            <a:r>
              <a:rPr lang="en-US" altLang="ko-KR" b="1" dirty="0"/>
              <a:t>gradient step </a:t>
            </a:r>
            <a:r>
              <a:rPr lang="ko-KR" altLang="en-US" b="1" dirty="0"/>
              <a:t>수를 관찰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3694606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1580F-D7A0-80C1-105F-0CC56EDE1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 및 데이터셋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FEAC06-F766-FD9C-5F32-EAACCEF1DC4A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ko-KR" altLang="en-US" dirty="0"/>
              <a:t>환경 </a:t>
            </a:r>
            <a:r>
              <a:rPr lang="en-US" altLang="ko-KR" dirty="0"/>
              <a:t>: Active learning </a:t>
            </a:r>
            <a:r>
              <a:rPr lang="ko-KR" altLang="en-US" dirty="0"/>
              <a:t>프레임워크 활용</a:t>
            </a:r>
            <a:endParaRPr lang="en-US" altLang="ko-KR" dirty="0"/>
          </a:p>
          <a:p>
            <a:pPr lvl="1"/>
            <a:r>
              <a:rPr lang="ko-KR" altLang="en-US" dirty="0"/>
              <a:t>데이터셋 별로 지정된 양의 샘플을 랜덤하게 선택하여</a:t>
            </a:r>
            <a:r>
              <a:rPr lang="en-US" altLang="ko-KR" dirty="0"/>
              <a:t>, labeled set</a:t>
            </a:r>
            <a:r>
              <a:rPr lang="ko-KR" altLang="en-US" dirty="0"/>
              <a:t>으로 사용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총 </a:t>
            </a:r>
            <a:r>
              <a:rPr lang="en-US" altLang="ko-KR" dirty="0"/>
              <a:t>10</a:t>
            </a:r>
            <a:r>
              <a:rPr lang="ko-KR" altLang="en-US" dirty="0"/>
              <a:t>회의 </a:t>
            </a:r>
            <a:r>
              <a:rPr lang="en-US" altLang="ko-KR" dirty="0"/>
              <a:t>cycle</a:t>
            </a:r>
            <a:r>
              <a:rPr lang="ko-KR" altLang="en-US" dirty="0"/>
              <a:t>로 구성하여</a:t>
            </a:r>
            <a:r>
              <a:rPr lang="en-US" altLang="ko-KR" dirty="0"/>
              <a:t>, </a:t>
            </a:r>
            <a:r>
              <a:rPr lang="ko-KR" altLang="en-US" dirty="0"/>
              <a:t>매 </a:t>
            </a:r>
            <a:r>
              <a:rPr lang="en-US" altLang="ko-KR" dirty="0"/>
              <a:t>cycle </a:t>
            </a:r>
            <a:r>
              <a:rPr lang="ko-KR" altLang="en-US" dirty="0"/>
              <a:t>마다 이전 </a:t>
            </a:r>
            <a:r>
              <a:rPr lang="en-US" altLang="ko-KR" dirty="0"/>
              <a:t>cycle</a:t>
            </a:r>
            <a:r>
              <a:rPr lang="ko-KR" altLang="en-US" dirty="0"/>
              <a:t>에서 결정된 </a:t>
            </a:r>
            <a:r>
              <a:rPr lang="en-US" altLang="ko-KR" dirty="0"/>
              <a:t>labeled set</a:t>
            </a:r>
            <a:r>
              <a:rPr lang="ko-KR" altLang="en-US" dirty="0"/>
              <a:t>을 활용한 훈련 진행</a:t>
            </a:r>
            <a:endParaRPr lang="en-US" altLang="ko-KR" dirty="0"/>
          </a:p>
          <a:p>
            <a:pPr lvl="2"/>
            <a:r>
              <a:rPr lang="ko-KR" altLang="en-US" dirty="0"/>
              <a:t>매 </a:t>
            </a:r>
            <a:r>
              <a:rPr lang="en-US" altLang="ko-KR" dirty="0"/>
              <a:t>cycle</a:t>
            </a:r>
            <a:r>
              <a:rPr lang="ko-KR" altLang="en-US" dirty="0"/>
              <a:t> 마다 정해진 </a:t>
            </a:r>
            <a:r>
              <a:rPr lang="en-US" altLang="ko-KR" dirty="0"/>
              <a:t>labeled set</a:t>
            </a:r>
            <a:r>
              <a:rPr lang="ko-KR" altLang="en-US" dirty="0"/>
              <a:t>과 이미지 분류기 </a:t>
            </a:r>
            <a:r>
              <a:rPr lang="en-US" altLang="ko-KR" dirty="0"/>
              <a:t>(ResNet-18)</a:t>
            </a:r>
            <a:r>
              <a:rPr lang="ko-KR" altLang="en-US" dirty="0"/>
              <a:t>를 활용하여 이미지 분류 훈련 진행</a:t>
            </a:r>
            <a:endParaRPr lang="en-US" altLang="ko-KR" dirty="0"/>
          </a:p>
          <a:p>
            <a:pPr lvl="2"/>
            <a:r>
              <a:rPr lang="ko-KR" altLang="en-US" dirty="0"/>
              <a:t>매 </a:t>
            </a:r>
            <a:r>
              <a:rPr lang="en-US" altLang="ko-KR" dirty="0"/>
              <a:t>cycle</a:t>
            </a:r>
            <a:r>
              <a:rPr lang="ko-KR" altLang="en-US" dirty="0"/>
              <a:t> 마다 훈련 진행 후</a:t>
            </a:r>
            <a:r>
              <a:rPr lang="en-US" altLang="ko-KR" dirty="0"/>
              <a:t>, test set</a:t>
            </a:r>
            <a:r>
              <a:rPr lang="ko-KR" altLang="en-US" dirty="0"/>
              <a:t>에 대한 이미지 분류 성능 평가 및</a:t>
            </a:r>
            <a:r>
              <a:rPr lang="en-US" altLang="ko-KR" dirty="0"/>
              <a:t> DQN </a:t>
            </a:r>
            <a:r>
              <a:rPr lang="ko-KR" altLang="en-US" dirty="0"/>
              <a:t>기반 </a:t>
            </a:r>
            <a:r>
              <a:rPr lang="en-US" altLang="ko-KR" dirty="0"/>
              <a:t>sampling</a:t>
            </a:r>
            <a:r>
              <a:rPr lang="ko-KR" altLang="en-US" dirty="0"/>
              <a:t> 진행</a:t>
            </a:r>
            <a:endParaRPr lang="en-US" altLang="ko-KR" dirty="0"/>
          </a:p>
          <a:p>
            <a:pPr lvl="3"/>
            <a:r>
              <a:rPr lang="en-US" altLang="ko-KR" dirty="0"/>
              <a:t>DQN </a:t>
            </a:r>
            <a:r>
              <a:rPr lang="ko-KR" altLang="en-US" dirty="0"/>
              <a:t>네트워크의 </a:t>
            </a:r>
            <a:r>
              <a:rPr lang="en-US" altLang="ko-KR" dirty="0"/>
              <a:t>training step (gradient step)</a:t>
            </a:r>
            <a:r>
              <a:rPr lang="ko-KR" altLang="en-US" dirty="0"/>
              <a:t>은 실험 마다 지정 가능하도록 설계</a:t>
            </a:r>
            <a:endParaRPr lang="en-US" altLang="ko-KR" dirty="0"/>
          </a:p>
          <a:p>
            <a:pPr lvl="3"/>
            <a:endParaRPr lang="en-US" altLang="ko-KR" dirty="0"/>
          </a:p>
          <a:p>
            <a:pPr lvl="1"/>
            <a:r>
              <a:rPr lang="ko-KR" altLang="en-US" dirty="0"/>
              <a:t>마지막 </a:t>
            </a:r>
            <a:r>
              <a:rPr lang="en-US" altLang="ko-KR" dirty="0"/>
              <a:t>cycle </a:t>
            </a:r>
            <a:r>
              <a:rPr lang="ko-KR" altLang="en-US" dirty="0"/>
              <a:t>이후</a:t>
            </a:r>
            <a:r>
              <a:rPr lang="en-US" altLang="ko-KR" dirty="0"/>
              <a:t>, </a:t>
            </a:r>
            <a:r>
              <a:rPr lang="ko-KR" altLang="en-US" dirty="0"/>
              <a:t>최종적으로 훈련된 이미지 분류 모델의 </a:t>
            </a:r>
            <a:r>
              <a:rPr lang="en-US" altLang="ko-KR" dirty="0"/>
              <a:t>checkpoint</a:t>
            </a:r>
            <a:r>
              <a:rPr lang="ko-KR" altLang="en-US" dirty="0"/>
              <a:t>를 저장</a:t>
            </a:r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01816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8B751-383C-B94D-5F04-E16AD84F7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A11316-ECF2-39A8-269C-E71617509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 및 데이터셋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953403-23E9-7389-8257-B88390EE2EBF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ko-KR" altLang="en-US" dirty="0"/>
              <a:t>데이터셋</a:t>
            </a:r>
            <a:endParaRPr lang="en-US" altLang="ko-KR" dirty="0"/>
          </a:p>
          <a:p>
            <a:pPr lvl="1"/>
            <a:r>
              <a:rPr lang="en-US" dirty="0"/>
              <a:t>CIFAR-10</a:t>
            </a:r>
          </a:p>
          <a:p>
            <a:pPr lvl="2"/>
            <a:r>
              <a:rPr lang="en-US" altLang="ko-KR" dirty="0"/>
              <a:t>32×32 </a:t>
            </a:r>
            <a:r>
              <a:rPr lang="ko-KR" altLang="en-US" dirty="0"/>
              <a:t>컬러 이미지</a:t>
            </a:r>
            <a:r>
              <a:rPr lang="en-US" altLang="ko-KR" dirty="0"/>
              <a:t>, 10</a:t>
            </a:r>
            <a:r>
              <a:rPr lang="ko-KR" altLang="en-US" dirty="0"/>
              <a:t>개 클래스 </a:t>
            </a:r>
            <a:r>
              <a:rPr lang="en-US" altLang="ko-KR" dirty="0"/>
              <a:t>(</a:t>
            </a:r>
            <a:r>
              <a:rPr lang="ko-KR" altLang="en-US" dirty="0"/>
              <a:t>비행기</a:t>
            </a:r>
            <a:r>
              <a:rPr lang="en-US" altLang="ko-KR" dirty="0"/>
              <a:t>, </a:t>
            </a:r>
            <a:r>
              <a:rPr lang="ko-KR" altLang="en-US" dirty="0"/>
              <a:t>자동차</a:t>
            </a:r>
            <a:r>
              <a:rPr lang="en-US" altLang="ko-KR" dirty="0"/>
              <a:t>, </a:t>
            </a:r>
            <a:r>
              <a:rPr lang="ko-KR" altLang="en-US" dirty="0"/>
              <a:t>새</a:t>
            </a:r>
            <a:r>
              <a:rPr lang="en-US" altLang="ko-KR" dirty="0"/>
              <a:t>, </a:t>
            </a:r>
            <a:r>
              <a:rPr lang="ko-KR" altLang="en-US" dirty="0"/>
              <a:t>고양이 등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총 </a:t>
            </a:r>
            <a:r>
              <a:rPr lang="en-US" altLang="ko-KR" dirty="0"/>
              <a:t>60,000</a:t>
            </a:r>
            <a:r>
              <a:rPr lang="ko-KR" altLang="en-US" dirty="0"/>
              <a:t>장 이미지 </a:t>
            </a:r>
            <a:r>
              <a:rPr lang="en-US" altLang="ko-KR" dirty="0"/>
              <a:t>(Train 50,000 / Test 10,000)</a:t>
            </a:r>
          </a:p>
          <a:p>
            <a:pPr lvl="2"/>
            <a:r>
              <a:rPr lang="ko-KR" altLang="en-US" dirty="0"/>
              <a:t>소규모 이미지 분류 및 기본 실험에 널리 사용됨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CIFAR-100</a:t>
            </a:r>
          </a:p>
          <a:p>
            <a:pPr lvl="2"/>
            <a:r>
              <a:rPr lang="en-US" altLang="ko-KR" dirty="0"/>
              <a:t>32×32 </a:t>
            </a:r>
            <a:r>
              <a:rPr lang="ko-KR" altLang="en-US" dirty="0"/>
              <a:t>컬러 이미지</a:t>
            </a:r>
            <a:r>
              <a:rPr lang="en-US" altLang="ko-KR" dirty="0"/>
              <a:t>, 100</a:t>
            </a:r>
            <a:r>
              <a:rPr lang="ko-KR" altLang="en-US" dirty="0"/>
              <a:t>개 세부 클래스</a:t>
            </a:r>
            <a:endParaRPr lang="en-US" altLang="ko-KR" dirty="0"/>
          </a:p>
          <a:p>
            <a:pPr lvl="2"/>
            <a:r>
              <a:rPr lang="ko-KR" altLang="en-US" dirty="0"/>
              <a:t>총 </a:t>
            </a:r>
            <a:r>
              <a:rPr lang="en-US" altLang="ko-KR" dirty="0"/>
              <a:t>60,000</a:t>
            </a:r>
            <a:r>
              <a:rPr lang="ko-KR" altLang="en-US" dirty="0"/>
              <a:t>장 이미지 </a:t>
            </a:r>
            <a:r>
              <a:rPr lang="en-US" altLang="ko-KR" dirty="0"/>
              <a:t>(Train 50,000 / Test 10,000)</a:t>
            </a:r>
          </a:p>
          <a:p>
            <a:pPr lvl="2"/>
            <a:r>
              <a:rPr lang="en-US" altLang="ko-KR" dirty="0"/>
              <a:t>CIFAR-10</a:t>
            </a:r>
            <a:r>
              <a:rPr lang="ko-KR" altLang="en-US" dirty="0"/>
              <a:t>보다 클래스 수가 많아 분류 난이도가 더 높음</a:t>
            </a:r>
            <a:endParaRPr lang="en-US" dirty="0"/>
          </a:p>
          <a:p>
            <a:pPr lvl="1"/>
            <a:endParaRPr lang="en-US" dirty="0"/>
          </a:p>
          <a:p>
            <a:pPr lvl="1">
              <a:tabLst>
                <a:tab pos="93663" algn="l"/>
                <a:tab pos="804863" algn="l"/>
              </a:tabLst>
            </a:pPr>
            <a:r>
              <a:rPr lang="en-US" dirty="0"/>
              <a:t>Fashion MNIST</a:t>
            </a:r>
          </a:p>
          <a:p>
            <a:pPr lvl="2">
              <a:tabLst>
                <a:tab pos="93663" algn="l"/>
                <a:tab pos="804863" algn="l"/>
              </a:tabLst>
            </a:pPr>
            <a:r>
              <a:rPr lang="en-US" altLang="ko-KR" dirty="0"/>
              <a:t>28×28 </a:t>
            </a:r>
            <a:r>
              <a:rPr lang="ko-KR" altLang="en-US" dirty="0"/>
              <a:t>흑백 의류 이미지</a:t>
            </a:r>
            <a:r>
              <a:rPr lang="en-US" altLang="ko-KR" dirty="0"/>
              <a:t>, 10</a:t>
            </a:r>
            <a:r>
              <a:rPr lang="ko-KR" altLang="en-US" dirty="0"/>
              <a:t>개 클래스 </a:t>
            </a:r>
            <a:r>
              <a:rPr lang="en-US" altLang="ko-KR" dirty="0"/>
              <a:t>(</a:t>
            </a:r>
            <a:r>
              <a:rPr lang="en-US" dirty="0"/>
              <a:t>T-shirt/top, Trouser, Pullover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pPr lvl="2">
              <a:tabLst>
                <a:tab pos="93663" algn="l"/>
                <a:tab pos="804863" algn="l"/>
              </a:tabLst>
            </a:pPr>
            <a:r>
              <a:rPr lang="ko-KR" altLang="en-US" dirty="0"/>
              <a:t>총 </a:t>
            </a:r>
            <a:r>
              <a:rPr lang="en-US" altLang="ko-KR" dirty="0"/>
              <a:t>70,000</a:t>
            </a:r>
            <a:r>
              <a:rPr lang="ko-KR" altLang="en-US" dirty="0"/>
              <a:t>장 이미지 </a:t>
            </a:r>
            <a:r>
              <a:rPr lang="en-US" altLang="ko-KR" dirty="0"/>
              <a:t>(Train 60,000 / Test 10,000)</a:t>
            </a:r>
          </a:p>
          <a:p>
            <a:pPr lvl="2">
              <a:tabLst>
                <a:tab pos="93663" algn="l"/>
                <a:tab pos="804863" algn="l"/>
              </a:tabLst>
            </a:pPr>
            <a:r>
              <a:rPr lang="ko-KR" altLang="en-US" dirty="0"/>
              <a:t>전통적인 </a:t>
            </a:r>
            <a:r>
              <a:rPr lang="en-US" altLang="ko-KR" dirty="0"/>
              <a:t>MNIST (</a:t>
            </a:r>
            <a:r>
              <a:rPr lang="ko-KR" altLang="en-US" dirty="0"/>
              <a:t>숫자</a:t>
            </a:r>
            <a:r>
              <a:rPr lang="en-US" altLang="ko-KR" dirty="0"/>
              <a:t>) </a:t>
            </a:r>
            <a:r>
              <a:rPr lang="ko-KR" altLang="en-US" dirty="0"/>
              <a:t>대신 사용하는 의류 이미지 분류 벤치마크</a:t>
            </a:r>
            <a:endParaRPr 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2278DEF-B028-588F-2395-1220494B3DB8}"/>
              </a:ext>
            </a:extLst>
          </p:cNvPr>
          <p:cNvGrpSpPr/>
          <p:nvPr/>
        </p:nvGrpSpPr>
        <p:grpSpPr>
          <a:xfrm>
            <a:off x="6591535" y="1556740"/>
            <a:ext cx="2966465" cy="1526871"/>
            <a:chOff x="6465210" y="1020339"/>
            <a:chExt cx="2966465" cy="1526871"/>
          </a:xfrm>
        </p:grpSpPr>
        <p:pic>
          <p:nvPicPr>
            <p:cNvPr id="1030" name="Picture 6" descr="Load and Explore Cifar10 Dataset | coding">
              <a:extLst>
                <a:ext uri="{FF2B5EF4-FFF2-40B4-BE49-F238E27FC236}">
                  <a16:creationId xmlns:a16="http://schemas.microsoft.com/office/drawing/2014/main" id="{DA471EDC-5CE9-17DD-526D-DD9B256579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65210" y="1020339"/>
              <a:ext cx="2966465" cy="12693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80D316D-DEA9-1469-54C5-BD70F685E463}"/>
                </a:ext>
              </a:extLst>
            </p:cNvPr>
            <p:cNvSpPr txBox="1"/>
            <p:nvPr/>
          </p:nvSpPr>
          <p:spPr>
            <a:xfrm>
              <a:off x="7274090" y="2270211"/>
              <a:ext cx="13487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&lt;CIFAR-10</a:t>
              </a:r>
              <a:r>
                <a:rPr lang="ko-KR" altLang="en-US" sz="1200" dirty="0">
                  <a:latin typeface="+mn-ea"/>
                  <a:ea typeface="+mn-ea"/>
                  <a:cs typeface="Arial" pitchFamily="34" charset="0"/>
                </a:rPr>
                <a:t>의 예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&gt;</a:t>
              </a:r>
              <a:endParaRPr lang="ko-KR" altLang="en-US" sz="1200" dirty="0">
                <a:latin typeface="+mn-ea"/>
                <a:ea typeface="+mn-ea"/>
                <a:cs typeface="Arial" pitchFamily="34" charset="0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946092DA-E51B-B07B-A8B8-3758599C2168}"/>
              </a:ext>
            </a:extLst>
          </p:cNvPr>
          <p:cNvGrpSpPr/>
          <p:nvPr/>
        </p:nvGrpSpPr>
        <p:grpSpPr>
          <a:xfrm>
            <a:off x="7599987" y="4221110"/>
            <a:ext cx="1723549" cy="1848673"/>
            <a:chOff x="7707814" y="4221110"/>
            <a:chExt cx="1723549" cy="1848673"/>
          </a:xfrm>
        </p:grpSpPr>
        <p:pic>
          <p:nvPicPr>
            <p:cNvPr id="1028" name="Picture 4" descr="👚 Fashion-MNIST 👖">
              <a:extLst>
                <a:ext uri="{FF2B5EF4-FFF2-40B4-BE49-F238E27FC236}">
                  <a16:creationId xmlns:a16="http://schemas.microsoft.com/office/drawing/2014/main" id="{853E7620-2287-DCCD-35D2-20AB5B0AFD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7478" y="4221110"/>
              <a:ext cx="1584220" cy="16165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5A201E5-5926-F5B4-106C-F1EA91CCCFF1}"/>
                </a:ext>
              </a:extLst>
            </p:cNvPr>
            <p:cNvSpPr txBox="1"/>
            <p:nvPr/>
          </p:nvSpPr>
          <p:spPr>
            <a:xfrm>
              <a:off x="7707814" y="5792784"/>
              <a:ext cx="172354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&lt;Fashion MNIST</a:t>
              </a:r>
              <a:r>
                <a:rPr lang="ko-KR" altLang="en-US" sz="1200" dirty="0">
                  <a:latin typeface="+mn-ea"/>
                  <a:ea typeface="+mn-ea"/>
                  <a:cs typeface="Arial" pitchFamily="34" charset="0"/>
                </a:rPr>
                <a:t>의 예</a:t>
              </a:r>
              <a:r>
                <a:rPr lang="en-US" altLang="ko-KR" sz="1200" dirty="0">
                  <a:latin typeface="+mn-ea"/>
                  <a:ea typeface="+mn-ea"/>
                  <a:cs typeface="Arial" pitchFamily="34" charset="0"/>
                </a:rPr>
                <a:t>&gt;</a:t>
              </a:r>
              <a:endParaRPr lang="ko-KR" altLang="en-US" sz="1200" dirty="0">
                <a:latin typeface="+mn-ea"/>
                <a:ea typeface="+mn-ea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4384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E03A3-B55A-81E8-0DAC-98BE34BC9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9E4BC-E1D2-739F-8F05-BAB54547A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 및 데이터셋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CF4891-CF31-BFD8-AAC1-7A547C9A978B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</a:t>
            </a:r>
            <a:r>
              <a:rPr lang="en-US" altLang="ko-KR" dirty="0"/>
              <a:t>preprocessing</a:t>
            </a:r>
          </a:p>
          <a:p>
            <a:pPr lvl="1"/>
            <a:r>
              <a:rPr lang="en-US" dirty="0"/>
              <a:t>CIFAR-10, CIFAR-100</a:t>
            </a:r>
            <a:endParaRPr lang="en-US" altLang="ko-KR" dirty="0"/>
          </a:p>
          <a:p>
            <a:pPr lvl="2"/>
            <a:r>
              <a:rPr lang="en-US" dirty="0"/>
              <a:t>Train</a:t>
            </a:r>
          </a:p>
          <a:p>
            <a:pPr lvl="3"/>
            <a:r>
              <a:rPr lang="en-US" dirty="0" err="1">
                <a:latin typeface="Consolas" panose="020B0609020204030204" pitchFamily="49" charset="0"/>
              </a:rPr>
              <a:t>RandomHorizontalFlip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: </a:t>
            </a:r>
            <a:r>
              <a:rPr lang="ko-KR" altLang="en-US" dirty="0"/>
              <a:t>이미지를 좌우로 랜덤 뒤집기 </a:t>
            </a:r>
            <a:r>
              <a:rPr lang="en-US" altLang="ko-KR" dirty="0"/>
              <a:t>(</a:t>
            </a:r>
            <a:r>
              <a:rPr lang="ko-KR" altLang="en-US" dirty="0"/>
              <a:t>데이터 다양성 증가</a:t>
            </a:r>
            <a:r>
              <a:rPr lang="en-US" altLang="ko-KR" dirty="0"/>
              <a:t>)</a:t>
            </a:r>
            <a:endParaRPr lang="en-US" dirty="0"/>
          </a:p>
          <a:p>
            <a:pPr lvl="3"/>
            <a:r>
              <a:rPr lang="en-US" dirty="0" err="1">
                <a:latin typeface="Consolas" panose="020B0609020204030204" pitchFamily="49" charset="0"/>
              </a:rPr>
              <a:t>RandomCrop</a:t>
            </a:r>
            <a:r>
              <a:rPr lang="en-US" dirty="0">
                <a:latin typeface="Consolas" panose="020B0609020204030204" pitchFamily="49" charset="0"/>
              </a:rPr>
              <a:t>(size=32, padding=4) </a:t>
            </a:r>
            <a:r>
              <a:rPr lang="en-US" dirty="0"/>
              <a:t>: </a:t>
            </a:r>
            <a:r>
              <a:rPr lang="ko-KR" altLang="en-US" dirty="0"/>
              <a:t>가장자리에 </a:t>
            </a:r>
            <a:r>
              <a:rPr lang="en-US" altLang="ko-KR" dirty="0"/>
              <a:t>4</a:t>
            </a:r>
            <a:r>
              <a:rPr lang="ko-KR" altLang="en-US" dirty="0"/>
              <a:t>픽셀 패딩 후 </a:t>
            </a:r>
            <a:r>
              <a:rPr lang="en-US" altLang="ko-KR" dirty="0"/>
              <a:t>32×32 </a:t>
            </a:r>
            <a:r>
              <a:rPr lang="ko-KR" altLang="en-US" dirty="0"/>
              <a:t>랜덤 크롭</a:t>
            </a:r>
            <a:endParaRPr lang="en-US" dirty="0"/>
          </a:p>
          <a:p>
            <a:pPr lvl="3"/>
            <a:r>
              <a:rPr lang="en-US" dirty="0" err="1">
                <a:latin typeface="Consolas" panose="020B0609020204030204" pitchFamily="49" charset="0"/>
              </a:rPr>
              <a:t>ToTensor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: </a:t>
            </a:r>
            <a:r>
              <a:rPr lang="en-US" altLang="ko-KR" dirty="0"/>
              <a:t>[0, 1] </a:t>
            </a:r>
            <a:r>
              <a:rPr lang="ko-KR" altLang="en-US" dirty="0"/>
              <a:t>범위의 </a:t>
            </a:r>
            <a:r>
              <a:rPr lang="en-US" altLang="ko-KR" dirty="0"/>
              <a:t>PyTorch </a:t>
            </a:r>
            <a:r>
              <a:rPr lang="ko-KR" altLang="en-US" dirty="0"/>
              <a:t>텐서 </a:t>
            </a:r>
            <a:r>
              <a:rPr lang="en-US" altLang="ko-KR" dirty="0"/>
              <a:t>(tensor)</a:t>
            </a:r>
            <a:r>
              <a:rPr lang="ko-KR" altLang="en-US" dirty="0"/>
              <a:t>로 변환</a:t>
            </a:r>
            <a:endParaRPr lang="en-US" dirty="0"/>
          </a:p>
          <a:p>
            <a:pPr lvl="3"/>
            <a:r>
              <a:rPr lang="en-US" dirty="0">
                <a:latin typeface="Consolas" panose="020B0609020204030204" pitchFamily="49" charset="0"/>
              </a:rPr>
              <a:t>Normalize(mean, std) </a:t>
            </a:r>
            <a:r>
              <a:rPr lang="en-US" dirty="0"/>
              <a:t>: </a:t>
            </a:r>
            <a:r>
              <a:rPr lang="ko-KR" altLang="en-US" dirty="0"/>
              <a:t>채널별 평균</a:t>
            </a:r>
            <a:r>
              <a:rPr lang="en-US" altLang="ko-KR" dirty="0"/>
              <a:t>/</a:t>
            </a:r>
            <a:r>
              <a:rPr lang="ko-KR" altLang="en-US" dirty="0"/>
              <a:t>표준편차로 정규화</a:t>
            </a:r>
            <a:endParaRPr lang="en-US" altLang="ko-KR" dirty="0"/>
          </a:p>
          <a:p>
            <a:pPr lvl="2"/>
            <a:r>
              <a:rPr lang="en-US" dirty="0"/>
              <a:t>Test</a:t>
            </a:r>
          </a:p>
          <a:p>
            <a:pPr lvl="3"/>
            <a:r>
              <a:rPr lang="en-US" dirty="0" err="1">
                <a:latin typeface="Consolas" panose="020B0609020204030204" pitchFamily="49" charset="0"/>
              </a:rPr>
              <a:t>ToTensor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pPr lvl="3"/>
            <a:r>
              <a:rPr lang="en-US" dirty="0">
                <a:latin typeface="Consolas" panose="020B0609020204030204" pitchFamily="49" charset="0"/>
              </a:rPr>
              <a:t>Normalize(mean, std)</a:t>
            </a:r>
          </a:p>
        </p:txBody>
      </p:sp>
    </p:spTree>
    <p:extLst>
      <p:ext uri="{BB962C8B-B14F-4D97-AF65-F5344CB8AC3E}">
        <p14:creationId xmlns:p14="http://schemas.microsoft.com/office/powerpoint/2010/main" val="3664503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4B774-146B-D021-1345-7411F316B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A42F39-1171-3A2B-AA30-775314168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 및 데이터셋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EF3A2C-0521-13B1-DB93-F360B6238DEE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</a:t>
            </a:r>
            <a:r>
              <a:rPr lang="en-US" altLang="ko-KR" dirty="0"/>
              <a:t>preprocessing</a:t>
            </a:r>
          </a:p>
          <a:p>
            <a:pPr lvl="1">
              <a:buFont typeface="+mj-lt"/>
              <a:buAutoNum type="arabicPeriod" startAt="2"/>
            </a:pPr>
            <a:r>
              <a:rPr lang="en-US" dirty="0"/>
              <a:t>Fashion MNIST</a:t>
            </a:r>
          </a:p>
          <a:p>
            <a:pPr lvl="2"/>
            <a:r>
              <a:rPr lang="en-US" dirty="0"/>
              <a:t>Train</a:t>
            </a:r>
          </a:p>
          <a:p>
            <a:pPr lvl="3"/>
            <a:r>
              <a:rPr lang="en-US" dirty="0">
                <a:latin typeface="Consolas" panose="020B0609020204030204" pitchFamily="49" charset="0"/>
              </a:rPr>
              <a:t>Resize(32) </a:t>
            </a:r>
            <a:r>
              <a:rPr lang="en-US" dirty="0"/>
              <a:t>: </a:t>
            </a:r>
            <a:r>
              <a:rPr lang="ko-KR" altLang="en-US" dirty="0"/>
              <a:t>원본 </a:t>
            </a:r>
            <a:r>
              <a:rPr lang="en-US" altLang="ko-KR" dirty="0"/>
              <a:t>28×28 </a:t>
            </a:r>
            <a:r>
              <a:rPr lang="ko-KR" altLang="en-US" dirty="0"/>
              <a:t>이미지를 </a:t>
            </a:r>
            <a:r>
              <a:rPr lang="en-US" altLang="ko-KR" dirty="0"/>
              <a:t>32×32</a:t>
            </a:r>
            <a:r>
              <a:rPr lang="ko-KR" altLang="en-US" dirty="0"/>
              <a:t>로 리사이즈</a:t>
            </a:r>
            <a:endParaRPr lang="en-US" dirty="0"/>
          </a:p>
          <a:p>
            <a:pPr lvl="3"/>
            <a:r>
              <a:rPr lang="en-US" dirty="0">
                <a:latin typeface="Consolas" panose="020B0609020204030204" pitchFamily="49" charset="0"/>
              </a:rPr>
              <a:t>Grayscale(</a:t>
            </a:r>
            <a:r>
              <a:rPr lang="en-US" dirty="0" err="1">
                <a:latin typeface="Consolas" panose="020B0609020204030204" pitchFamily="49" charset="0"/>
              </a:rPr>
              <a:t>num_output_channels</a:t>
            </a:r>
            <a:r>
              <a:rPr lang="en-US" dirty="0">
                <a:latin typeface="Consolas" panose="020B0609020204030204" pitchFamily="49" charset="0"/>
              </a:rPr>
              <a:t>=3) </a:t>
            </a:r>
            <a:r>
              <a:rPr lang="en-US" dirty="0"/>
              <a:t>: </a:t>
            </a:r>
            <a:r>
              <a:rPr lang="en-US" altLang="ko-KR" dirty="0"/>
              <a:t>1</a:t>
            </a:r>
            <a:r>
              <a:rPr lang="ko-KR" altLang="en-US" dirty="0"/>
              <a:t>채널 이미지를 </a:t>
            </a:r>
            <a:r>
              <a:rPr lang="en-US" altLang="ko-KR" dirty="0"/>
              <a:t>3</a:t>
            </a:r>
            <a:r>
              <a:rPr lang="ko-KR" altLang="en-US" dirty="0"/>
              <a:t>채널로 복제 </a:t>
            </a:r>
            <a:r>
              <a:rPr lang="en-US" altLang="ko-KR" dirty="0"/>
              <a:t>(RGB </a:t>
            </a:r>
            <a:r>
              <a:rPr lang="ko-KR" altLang="en-US" dirty="0"/>
              <a:t>모델과 형식 통일</a:t>
            </a:r>
            <a:r>
              <a:rPr lang="en-US" altLang="ko-KR" dirty="0"/>
              <a:t>)</a:t>
            </a:r>
            <a:endParaRPr lang="en-US" dirty="0"/>
          </a:p>
          <a:p>
            <a:pPr lvl="3"/>
            <a:r>
              <a:rPr lang="en-US" dirty="0" err="1">
                <a:latin typeface="Consolas" panose="020B0609020204030204" pitchFamily="49" charset="0"/>
              </a:rPr>
              <a:t>RandomHorizontalFlip</a:t>
            </a:r>
            <a:r>
              <a:rPr lang="en-US" dirty="0">
                <a:latin typeface="Consolas" panose="020B0609020204030204" pitchFamily="49" charset="0"/>
              </a:rPr>
              <a:t>() </a:t>
            </a:r>
            <a:r>
              <a:rPr lang="en-US" dirty="0"/>
              <a:t>: </a:t>
            </a:r>
            <a:r>
              <a:rPr lang="ko-KR" altLang="en-US" dirty="0"/>
              <a:t>이미지를 좌우로 랜덤 뒤집기</a:t>
            </a:r>
            <a:endParaRPr lang="en-US" altLang="ko-KR" dirty="0"/>
          </a:p>
          <a:p>
            <a:pPr lvl="3"/>
            <a:r>
              <a:rPr lang="en-US" dirty="0" err="1">
                <a:latin typeface="Consolas" panose="020B0609020204030204" pitchFamily="49" charset="0"/>
              </a:rPr>
              <a:t>RandomCrop</a:t>
            </a:r>
            <a:r>
              <a:rPr lang="en-US" dirty="0">
                <a:latin typeface="Consolas" panose="020B0609020204030204" pitchFamily="49" charset="0"/>
              </a:rPr>
              <a:t>(size=32, padding=4) </a:t>
            </a:r>
            <a:r>
              <a:rPr lang="en-US" dirty="0"/>
              <a:t>: </a:t>
            </a:r>
            <a:r>
              <a:rPr lang="en-US" altLang="ko-KR" dirty="0"/>
              <a:t>4</a:t>
            </a:r>
            <a:r>
              <a:rPr lang="ko-KR" altLang="en-US" dirty="0"/>
              <a:t>픽셀 패딩 후 </a:t>
            </a:r>
            <a:r>
              <a:rPr lang="en-US" altLang="ko-KR" dirty="0"/>
              <a:t>32×32 </a:t>
            </a:r>
            <a:r>
              <a:rPr lang="ko-KR" altLang="en-US" dirty="0"/>
              <a:t>랜덤 크롭</a:t>
            </a:r>
            <a:endParaRPr lang="en-US" dirty="0"/>
          </a:p>
          <a:p>
            <a:pPr lvl="3"/>
            <a:r>
              <a:rPr lang="en-US" dirty="0" err="1">
                <a:latin typeface="Consolas" panose="020B0609020204030204" pitchFamily="49" charset="0"/>
              </a:rPr>
              <a:t>ToTensor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pPr lvl="3"/>
            <a:r>
              <a:rPr lang="en-US" dirty="0">
                <a:latin typeface="Consolas" panose="020B0609020204030204" pitchFamily="49" charset="0"/>
              </a:rPr>
              <a:t>Normalize(mean, std)</a:t>
            </a:r>
          </a:p>
          <a:p>
            <a:pPr lvl="2"/>
            <a:r>
              <a:rPr lang="en-US" dirty="0"/>
              <a:t>Test</a:t>
            </a:r>
          </a:p>
          <a:p>
            <a:pPr lvl="3"/>
            <a:r>
              <a:rPr lang="en-US" dirty="0">
                <a:latin typeface="Consolas" panose="020B0609020204030204" pitchFamily="49" charset="0"/>
              </a:rPr>
              <a:t>Resize(32)</a:t>
            </a:r>
          </a:p>
          <a:p>
            <a:pPr lvl="3"/>
            <a:r>
              <a:rPr lang="en-US" dirty="0">
                <a:latin typeface="Consolas" panose="020B0609020204030204" pitchFamily="49" charset="0"/>
              </a:rPr>
              <a:t>Grayscale(</a:t>
            </a:r>
            <a:r>
              <a:rPr lang="en-US" dirty="0" err="1">
                <a:latin typeface="Consolas" panose="020B0609020204030204" pitchFamily="49" charset="0"/>
              </a:rPr>
              <a:t>num_output_channels</a:t>
            </a:r>
            <a:r>
              <a:rPr lang="en-US" dirty="0">
                <a:latin typeface="Consolas" panose="020B0609020204030204" pitchFamily="49" charset="0"/>
              </a:rPr>
              <a:t>=3)</a:t>
            </a:r>
          </a:p>
          <a:p>
            <a:pPr lvl="3"/>
            <a:r>
              <a:rPr lang="en-US" dirty="0" err="1">
                <a:latin typeface="Consolas" panose="020B0609020204030204" pitchFamily="49" charset="0"/>
              </a:rPr>
              <a:t>ToTensor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pPr lvl="3"/>
            <a:r>
              <a:rPr lang="en-US" dirty="0">
                <a:latin typeface="Consolas" panose="020B0609020204030204" pitchFamily="49" charset="0"/>
              </a:rPr>
              <a:t>Normalize(mean, std)</a:t>
            </a:r>
          </a:p>
        </p:txBody>
      </p:sp>
    </p:spTree>
    <p:extLst>
      <p:ext uri="{BB962C8B-B14F-4D97-AF65-F5344CB8AC3E}">
        <p14:creationId xmlns:p14="http://schemas.microsoft.com/office/powerpoint/2010/main" val="2728127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6DB67-67E5-CBF7-57F1-CF72BCD4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강화학습 알고리즘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1379A3E-E642-7894-ABA3-CE15D7BD875D}"/>
                  </a:ext>
                </a:extLst>
              </p:cNvPr>
              <p:cNvSpPr>
                <a:spLocks noGrp="1"/>
              </p:cNvSpPr>
              <p:nvPr>
                <p:ph idx="17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State</a:t>
                </a:r>
              </a:p>
              <a:p>
                <a:pPr lvl="1"/>
                <a:r>
                  <a:rPr lang="ko-KR" altLang="en-US" dirty="0"/>
                  <a:t>한 </a:t>
                </a:r>
                <a:r>
                  <a:rPr lang="en-US" altLang="ko-KR" dirty="0"/>
                  <a:t>AL cycle</a:t>
                </a:r>
                <a:r>
                  <a:rPr lang="ko-KR" altLang="en-US" dirty="0"/>
                  <a:t>에서 학습된 </a:t>
                </a:r>
                <a:r>
                  <a:rPr lang="en-US" altLang="ko-KR" dirty="0"/>
                  <a:t>classifier</a:t>
                </a:r>
                <a:r>
                  <a:rPr lang="ko-KR" altLang="en-US" dirty="0"/>
                  <a:t>의 출력 </a:t>
                </a:r>
                <a:r>
                  <a:rPr lang="en-US" altLang="ko-KR" dirty="0"/>
                  <a:t>logit</a:t>
                </a:r>
                <a:r>
                  <a:rPr lang="ko-KR" altLang="en-US" dirty="0"/>
                  <a:t>들을 활용하여 결정된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𝐶</m:t>
                    </m:r>
                    <m:r>
                      <a:rPr lang="en-US" altLang="ko-KR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+3 </m:t>
                    </m:r>
                  </m:oMath>
                </a14:m>
                <a:r>
                  <a:rPr lang="ko-KR" altLang="en-US" dirty="0">
                    <a:sym typeface="Wingdings" panose="05000000000000000000" pitchFamily="2" charset="2"/>
                  </a:rPr>
                  <a:t>차원의 벡터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구성 요소</a:t>
                </a:r>
                <a:endParaRPr lang="en-US" dirty="0"/>
              </a:p>
              <a:p>
                <a:pPr lvl="2"/>
                <a:r>
                  <a:rPr lang="ko-KR" altLang="en-US" b="1" dirty="0"/>
                  <a:t>전체 </a:t>
                </a:r>
                <a:r>
                  <a:rPr lang="en-US" altLang="ko-KR" b="1" dirty="0"/>
                  <a:t>s</a:t>
                </a:r>
                <a:r>
                  <a:rPr lang="en-US" b="1" dirty="0"/>
                  <a:t>oftmax </a:t>
                </a:r>
                <a:r>
                  <a:rPr lang="ko-KR" altLang="en-US" b="1" dirty="0"/>
                  <a:t>확률 </a:t>
                </a:r>
                <a:r>
                  <a:rPr lang="en-US" altLang="ko-KR" dirty="0"/>
                  <a:t>: </a:t>
                </a:r>
                <a:r>
                  <a:rPr lang="en-US" altLang="ko-KR" dirty="0">
                    <a:latin typeface="Consolas" panose="020B0609020204030204" pitchFamily="49" charset="0"/>
                  </a:rPr>
                  <a:t>probs</a:t>
                </a:r>
                <a:r>
                  <a:rPr lang="ko-KR" altLang="en-US" dirty="0">
                    <a:latin typeface="Consolas" panose="020B0609020204030204" pitchFamily="49" charset="0"/>
                  </a:rPr>
                  <a:t> </a:t>
                </a:r>
                <a:r>
                  <a:rPr lang="en-US" altLang="ko-KR" dirty="0">
                    <a:latin typeface="Consolas" panose="020B0609020204030204" pitchFamily="49" charset="0"/>
                  </a:rPr>
                  <a:t>=</a:t>
                </a:r>
                <a:r>
                  <a:rPr lang="ko-KR" altLang="en-US" dirty="0">
                    <a:latin typeface="Consolas" panose="020B0609020204030204" pitchFamily="49" charset="0"/>
                  </a:rPr>
                  <a:t> </a:t>
                </a:r>
                <a:r>
                  <a:rPr lang="en-US" altLang="ko-KR" dirty="0">
                    <a:latin typeface="Consolas" panose="020B0609020204030204" pitchFamily="49" charset="0"/>
                  </a:rPr>
                  <a:t>softmax(logits)</a:t>
                </a:r>
              </a:p>
              <a:p>
                <a:pPr lvl="3"/>
                <a:r>
                  <a:rPr lang="ko-KR" altLang="en-US" dirty="0"/>
                  <a:t>현재 모델이 각 클래스를 얼마나 믿고 있는지 반영 </a:t>
                </a:r>
                <a:r>
                  <a:rPr lang="en-US" dirty="0"/>
                  <a:t>(</a:t>
                </a:r>
                <a:r>
                  <a:rPr lang="ko-KR" altLang="en-US" dirty="0"/>
                  <a:t>길이 </a:t>
                </a:r>
                <a:r>
                  <a:rPr lang="en-US" altLang="ko-KR" dirty="0"/>
                  <a:t>: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…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ko-KR" altLang="en-US" dirty="0"/>
                  <a:t> 는 데이터셋의 클래스 개수</a:t>
                </a:r>
                <a:r>
                  <a:rPr lang="en-US" dirty="0"/>
                  <a:t>)</a:t>
                </a:r>
              </a:p>
              <a:p>
                <a:pPr lvl="2"/>
                <a:r>
                  <a:rPr lang="ko-KR" altLang="en-US" b="1" dirty="0"/>
                  <a:t>최대 확률 </a:t>
                </a:r>
                <a:r>
                  <a:rPr lang="en-US" altLang="ko-KR" dirty="0"/>
                  <a:t>: </a:t>
                </a:r>
                <a:r>
                  <a:rPr lang="en-US" altLang="ko-KR" dirty="0" err="1">
                    <a:latin typeface="Consolas" panose="020B0609020204030204" pitchFamily="49" charset="0"/>
                  </a:rPr>
                  <a:t>max_prob</a:t>
                </a:r>
                <a:r>
                  <a:rPr lang="en-US" altLang="ko-KR" dirty="0">
                    <a:latin typeface="Consolas" panose="020B0609020204030204" pitchFamily="49" charset="0"/>
                  </a:rPr>
                  <a:t> = max(probs)</a:t>
                </a:r>
              </a:p>
              <a:p>
                <a:pPr lvl="3"/>
                <a:r>
                  <a:rPr lang="ko-KR" altLang="en-US" dirty="0"/>
                  <a:t>모델의 전반적인 확신 정도를 하나의 스칼라 값으로 요약</a:t>
                </a:r>
                <a:endParaRPr lang="en-US" altLang="ko-KR" dirty="0"/>
              </a:p>
              <a:p>
                <a:pPr lvl="4"/>
                <a:r>
                  <a:rPr lang="en-US" altLang="ko-KR" dirty="0"/>
                  <a:t>1</a:t>
                </a:r>
                <a:r>
                  <a:rPr lang="ko-KR" altLang="en-US" dirty="0"/>
                  <a:t>에 가까울수록 매우 확신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1/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ko-KR" altLang="en-US" dirty="0"/>
                  <a:t>에 가까울수록 모호</a:t>
                </a:r>
                <a:endParaRPr lang="en-US" altLang="ko-KR" dirty="0"/>
              </a:p>
              <a:p>
                <a:pPr lvl="2"/>
                <a:r>
                  <a:rPr lang="en-US" b="1" dirty="0"/>
                  <a:t>Margin</a:t>
                </a:r>
                <a:endParaRPr lang="en-US" dirty="0"/>
              </a:p>
              <a:p>
                <a:pPr lvl="3"/>
                <a:r>
                  <a:rPr lang="ko-KR" altLang="en-US" dirty="0"/>
                  <a:t>가장 큰 확률 값과 두 번째로 큰 확률 값의 차이 </a:t>
                </a:r>
                <a:r>
                  <a:rPr lang="en-US" altLang="ko-KR" dirty="0"/>
                  <a:t>(top1 - top2)</a:t>
                </a:r>
              </a:p>
              <a:p>
                <a:pPr lvl="4"/>
                <a:r>
                  <a:rPr lang="ko-KR" altLang="en-US" dirty="0"/>
                  <a:t>값이 크면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등 클래스가 명확 → 확실한 샘플</a:t>
                </a:r>
                <a:endParaRPr lang="en-US" altLang="ko-KR" dirty="0"/>
              </a:p>
              <a:p>
                <a:pPr lvl="4"/>
                <a:r>
                  <a:rPr lang="ko-KR" altLang="en-US" dirty="0"/>
                  <a:t>값이 작으면 상위 두 클래스가 비슷 → 경계에 위치한 샘플</a:t>
                </a:r>
                <a:endParaRPr lang="en-US" dirty="0"/>
              </a:p>
              <a:p>
                <a:pPr lvl="2"/>
                <a:r>
                  <a:rPr lang="en-US" altLang="ko-KR" b="1" dirty="0"/>
                  <a:t>Entropy (</a:t>
                </a:r>
                <a:r>
                  <a:rPr lang="ko-KR" altLang="en-US" b="1" dirty="0"/>
                  <a:t>불확실도</a:t>
                </a:r>
                <a:r>
                  <a:rPr lang="en-US" altLang="ko-KR" b="1" dirty="0"/>
                  <a:t>)</a:t>
                </a:r>
              </a:p>
              <a:p>
                <a:pPr marL="255587" lvl="3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US" altLang="ko-KR" b="0" i="0" dirty="0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lvl="3"/>
                <a:r>
                  <a:rPr lang="ko-KR" altLang="en-US" dirty="0"/>
                  <a:t>예측 확률 분포가 고르게 퍼져 있으면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모델이 모호하게 판단하면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값이 커짐</a:t>
                </a:r>
                <a:endParaRPr lang="en-US" altLang="ko-KR" dirty="0"/>
              </a:p>
              <a:p>
                <a:pPr lvl="3"/>
                <a:r>
                  <a:rPr lang="ko-KR" altLang="en-US" dirty="0"/>
                  <a:t>예측 확률 분포가 한 클래스에 쏠려 있으면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모델이 확신하여 판단하면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값이 작아짐</a:t>
                </a:r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1379A3E-E642-7894-ABA3-CE15D7BD8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7"/>
              </p:nvPr>
            </p:nvSpPr>
            <p:spPr>
              <a:blipFill>
                <a:blip r:embed="rId2"/>
                <a:stretch>
                  <a:fillRect l="-397" t="-2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0207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A2E5D-8140-51B3-75D8-0F6C30948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2C3A1F-3C1B-4FA1-AA80-FCB97797D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강화학습 알고리즘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021CA5F-B1D2-3637-5A34-3DE8E05DA956}"/>
                  </a:ext>
                </a:extLst>
              </p:cNvPr>
              <p:cNvSpPr>
                <a:spLocks noGrp="1"/>
              </p:cNvSpPr>
              <p:nvPr>
                <p:ph idx="17"/>
              </p:nvPr>
            </p:nvSpPr>
            <p:spPr/>
            <p:txBody>
              <a:bodyPr/>
              <a:lstStyle/>
              <a:p>
                <a:r>
                  <a:rPr lang="en-US" dirty="0"/>
                  <a:t>Action (</a:t>
                </a:r>
                <a14:m>
                  <m:oMath xmlns:m="http://schemas.openxmlformats.org/officeDocument/2006/math">
                    <m:r>
                      <a:rPr lang="en-US" altLang="ko-KR" b="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altLang="ko-KR" dirty="0"/>
                  <a:t>binary action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으로 구성</a:t>
                </a:r>
                <a:endParaRPr lang="en-US" dirty="0"/>
              </a:p>
              <a:p>
                <a:pPr lvl="2"/>
                <a:r>
                  <a:rPr lang="en-US" dirty="0"/>
                  <a:t>Action 1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dirty="0"/>
                  <a:t> : </a:t>
                </a:r>
                <a:r>
                  <a:rPr lang="ko-KR" altLang="en-US" dirty="0"/>
                  <a:t>해당 샘플을 이번 </a:t>
                </a:r>
                <a:r>
                  <a:rPr lang="en-US" altLang="ko-KR" dirty="0"/>
                  <a:t>cycle</a:t>
                </a:r>
                <a:r>
                  <a:rPr lang="ko-KR" altLang="en-US" dirty="0"/>
                  <a:t>에서 </a:t>
                </a:r>
                <a:r>
                  <a:rPr lang="en-US" altLang="ko-KR" dirty="0"/>
                  <a:t>labeling</a:t>
                </a:r>
                <a:r>
                  <a:rPr lang="ko-KR" altLang="en-US" dirty="0"/>
                  <a:t>할 샘플로 선택 </a:t>
                </a:r>
                <a:r>
                  <a:rPr lang="en-US" altLang="ko-KR" dirty="0"/>
                  <a:t>(select)</a:t>
                </a:r>
                <a:endParaRPr lang="en-US" dirty="0"/>
              </a:p>
              <a:p>
                <a:pPr lvl="2"/>
                <a:r>
                  <a:rPr lang="en-US" b="0" dirty="0"/>
                  <a:t>Action 0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r>
                  <a:rPr lang="en-US" dirty="0"/>
                  <a:t> : </a:t>
                </a:r>
                <a:r>
                  <a:rPr lang="ko-KR" altLang="en-US" dirty="0"/>
                  <a:t>해당 샘플을 선택하지 않음 </a:t>
                </a:r>
                <a:r>
                  <a:rPr lang="en-US" altLang="ko-KR" dirty="0"/>
                  <a:t>(skip)</a:t>
                </a:r>
              </a:p>
              <a:p>
                <a:pPr lvl="2"/>
                <a:endParaRPr lang="en-US" dirty="0"/>
              </a:p>
              <a:p>
                <a:r>
                  <a:rPr lang="en-US" dirty="0"/>
                  <a:t>Reward (</a:t>
                </a:r>
                <a14:m>
                  <m:oMath xmlns:m="http://schemas.openxmlformats.org/officeDocument/2006/math">
                    <m:r>
                      <a:rPr lang="ko-KR" altLang="en-US" b="0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ko-KR" altLang="en-US" dirty="0"/>
                  <a:t>선택된 샘플에 대해 현재 </a:t>
                </a:r>
                <a:r>
                  <a:rPr lang="en-US" altLang="ko-KR" dirty="0"/>
                  <a:t>classifier</a:t>
                </a:r>
                <a:r>
                  <a:rPr lang="ko-KR" altLang="en-US" dirty="0"/>
                  <a:t>의 예측과 정답 라벨을 비교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오분류인 경우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dirty="0"/>
                  <a:t> (</a:t>
                </a:r>
                <a:r>
                  <a:rPr lang="ko-KR" altLang="en-US" dirty="0"/>
                  <a:t>학습 가치가 큰 샘플</a:t>
                </a:r>
                <a:r>
                  <a:rPr lang="en-US" altLang="ko-KR" dirty="0"/>
                  <a:t>)</a:t>
                </a:r>
              </a:p>
              <a:p>
                <a:pPr lvl="2"/>
                <a:r>
                  <a:rPr lang="ko-KR" altLang="en-US" dirty="0"/>
                  <a:t>정분류인 경우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 lvl="1"/>
                <a:r>
                  <a:rPr lang="ko-KR" altLang="en-US" dirty="0"/>
                  <a:t>미선택 샘플 일부에 대해서는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=0, 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dirty="0"/>
                  <a:t> 으로 버퍼에 저장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에피소드 길이가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인 </a:t>
                </a:r>
                <a:r>
                  <a:rPr lang="en-US" altLang="ko-KR" dirty="0"/>
                  <a:t>contextual bandit</a:t>
                </a:r>
                <a:r>
                  <a:rPr lang="ko-KR" altLang="en-US" dirty="0"/>
                  <a:t>으로 가정 </a:t>
                </a:r>
                <a:r>
                  <a:rPr lang="en-US" altLang="ko-KR" dirty="0">
                    <a:sym typeface="Wingdings" panose="05000000000000000000" pitchFamily="2" charset="2"/>
                  </a:rPr>
                  <a:t>(</a:t>
                </a:r>
                <a:r>
                  <a:rPr lang="en-US" altLang="ko-KR" dirty="0"/>
                  <a:t>discount factor 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)≈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ko-KR" altLang="en-US" dirty="0"/>
                  <a:t> 를 학습</a:t>
                </a:r>
                <a:endParaRPr 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021CA5F-B1D2-3637-5A34-3DE8E05DA9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7"/>
              </p:nvPr>
            </p:nvSpPr>
            <p:spPr>
              <a:blipFill>
                <a:blip r:embed="rId2"/>
                <a:stretch>
                  <a:fillRect l="-3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5309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6AC89-B58E-C2FA-E5FD-6E430F085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강화학습 알고리즘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4BEE1C4-8EFD-0C19-AE6A-C8FFF0DE7B34}"/>
                  </a:ext>
                </a:extLst>
              </p:cNvPr>
              <p:cNvSpPr>
                <a:spLocks noGrp="1"/>
              </p:cNvSpPr>
              <p:nvPr>
                <p:ph idx="17"/>
              </p:nvPr>
            </p:nvSpPr>
            <p:spPr/>
            <p:txBody>
              <a:bodyPr/>
              <a:lstStyle/>
              <a:p>
                <a:r>
                  <a:rPr lang="en-US" dirty="0"/>
                  <a:t>Q-Network</a:t>
                </a:r>
              </a:p>
              <a:p>
                <a:pPr lvl="1"/>
                <a:r>
                  <a:rPr lang="ko-KR" altLang="en-US" dirty="0"/>
                  <a:t>상태 </a:t>
                </a:r>
                <a:r>
                  <a:rPr lang="en-US" altLang="ko-KR" dirty="0"/>
                  <a:t>(state)</a:t>
                </a:r>
                <a:r>
                  <a:rPr lang="ko-KR" altLang="en-US" dirty="0"/>
                  <a:t>를 입력으로 받아 각 행동 </a:t>
                </a:r>
                <a:r>
                  <a:rPr lang="en-US" altLang="ko-KR" dirty="0"/>
                  <a:t>(action)</a:t>
                </a:r>
                <a:r>
                  <a:rPr lang="ko-KR" altLang="en-US" dirty="0"/>
                  <a:t>에 대한 </a:t>
                </a:r>
                <a:r>
                  <a:rPr lang="en-US" altLang="ko-KR" dirty="0"/>
                  <a:t>Q</a:t>
                </a:r>
                <a:r>
                  <a:rPr lang="ko-KR" altLang="en-US" dirty="0"/>
                  <a:t>값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을 출력하는 함수 근사기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입력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분류기 </a:t>
                </a:r>
                <a:r>
                  <a:rPr lang="en-US" altLang="ko-KR" dirty="0"/>
                  <a:t>logit</a:t>
                </a:r>
                <a:r>
                  <a:rPr lang="ko-KR" altLang="en-US" dirty="0"/>
                  <a:t>에서 추출한 불확실도 특징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확률</a:t>
                </a:r>
                <a:r>
                  <a:rPr lang="en-US" altLang="ko-KR" dirty="0"/>
                  <a:t>, margin, entropy </a:t>
                </a:r>
                <a:r>
                  <a:rPr lang="ko-KR" altLang="en-US" dirty="0"/>
                  <a:t>등</a:t>
                </a:r>
                <a:r>
                  <a:rPr lang="en-US" altLang="ko-KR" dirty="0"/>
                  <a:t>)</a:t>
                </a:r>
              </a:p>
              <a:p>
                <a:pPr lvl="2"/>
                <a:r>
                  <a:rPr lang="ko-KR" altLang="en-US" dirty="0"/>
                  <a:t>출력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,0),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,1)]∈</m:t>
                    </m:r>
                    <m:sSup>
                      <m:sSup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pPr lvl="3"/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이 샘플을 선택하지 않았을 때의 기대 보상</a:t>
                </a:r>
                <a:endParaRPr lang="en-US" altLang="ko-KR" dirty="0"/>
              </a:p>
              <a:p>
                <a:pPr lvl="3"/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</m:oMath>
                </a14:m>
                <a:r>
                  <a:rPr lang="en-US" altLang="ko-KR" dirty="0"/>
                  <a:t> : </a:t>
                </a:r>
                <a:r>
                  <a:rPr lang="ko-KR" altLang="en-US" dirty="0"/>
                  <a:t>이 샘플을 선택했을 때의 기대 보상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DQN </a:t>
                </a:r>
                <a:r>
                  <a:rPr lang="ko-KR" altLang="en-US" dirty="0"/>
                  <a:t>에이전트가 </a:t>
                </a:r>
                <a:r>
                  <a:rPr lang="en-US" altLang="ko-KR" dirty="0"/>
                  <a:t>Q-Network</a:t>
                </a:r>
                <a:r>
                  <a:rPr lang="ko-KR" altLang="en-US" dirty="0"/>
                  <a:t>를 이용해 지금 이 샘플을 선택하면 얼마나 이득인지를 수치로 평가</a:t>
                </a:r>
                <a:endParaRPr lang="en-US" altLang="ko-KR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,1</m:t>
                        </m:r>
                      </m:e>
                    </m:d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만을 </a:t>
                </a:r>
                <a:r>
                  <a:rPr lang="en-US" altLang="ko-KR" dirty="0"/>
                  <a:t>score</a:t>
                </a:r>
                <a:r>
                  <a:rPr lang="ko-KR" altLang="en-US" dirty="0"/>
                  <a:t>로 사용하여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score</a:t>
                </a:r>
                <a:r>
                  <a:rPr lang="ko-KR" altLang="en-US" dirty="0"/>
                  <a:t>가 큰 상위 </a:t>
                </a:r>
                <a:r>
                  <a:rPr lang="en-US" altLang="ko-KR" dirty="0"/>
                  <a:t>K</a:t>
                </a:r>
                <a:r>
                  <a:rPr lang="ko-KR" altLang="en-US" dirty="0"/>
                  <a:t>개 샘플을 다음 </a:t>
                </a:r>
                <a:r>
                  <a:rPr lang="en-US" altLang="ko-KR" dirty="0"/>
                  <a:t>cycle</a:t>
                </a:r>
                <a:r>
                  <a:rPr lang="ko-KR" altLang="en-US" dirty="0"/>
                  <a:t>에 </a:t>
                </a:r>
                <a:r>
                  <a:rPr lang="en-US" altLang="ko-KR" dirty="0"/>
                  <a:t>labeled dataset</a:t>
                </a:r>
                <a:r>
                  <a:rPr lang="ko-KR" altLang="en-US" dirty="0"/>
                  <a:t>에 추가할 샘플로 선택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r>
                  <a:rPr lang="ko-KR" altLang="en-US" dirty="0"/>
                  <a:t>손실 계산 </a:t>
                </a:r>
                <a:endParaRPr lang="en-US" altLang="ko-KR" dirty="0"/>
              </a:p>
              <a:p>
                <a:pPr lvl="2"/>
                <a:r>
                  <a:rPr lang="ko-KR" altLang="en-US" dirty="0"/>
                  <a:t>평균 제곱 오차 </a:t>
                </a:r>
                <a:r>
                  <a:rPr lang="en-US" altLang="ko-KR" dirty="0"/>
                  <a:t>(</a:t>
                </a:r>
                <a:r>
                  <a:rPr lang="en-US" altLang="en-US" dirty="0"/>
                  <a:t>Mean Squared Error, MSE) </a:t>
                </a:r>
                <a:r>
                  <a:rPr lang="ko-KR" altLang="en-US" dirty="0"/>
                  <a:t>사용</a:t>
                </a:r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4BEE1C4-8EFD-0C19-AE6A-C8FFF0DE7B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7"/>
              </p:nvPr>
            </p:nvSpPr>
            <p:spPr>
              <a:blipFill>
                <a:blip r:embed="rId3"/>
                <a:stretch>
                  <a:fillRect l="-3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 descr="\documentclass{article}&#10;\usepackage{amsfonts}&#10;\usepackage{amsmath}&#10;\pagestyle{empty}&#10;\begin{document}&#10;\begin{align*}&#10;\mathcal{L} = \frac{1}{B} \sum_{i=1}^{B} \bigl(Q_{\theta}(s_i, a_i) - r_i\bigr)^2&#10;\end{align*}&#10;\end{document}" title="IguanaTex Bitmap Display">
            <a:extLst>
              <a:ext uri="{FF2B5EF4-FFF2-40B4-BE49-F238E27FC236}">
                <a16:creationId xmlns:a16="http://schemas.microsoft.com/office/drawing/2014/main" id="{8DEC69FD-F2CE-C935-0BDA-05A3691481C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667" y="5272306"/>
            <a:ext cx="3050666" cy="7375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B0F319-C4B1-9C55-DD78-C6533D05B8CB}"/>
                  </a:ext>
                </a:extLst>
              </p:cNvPr>
              <p:cNvSpPr txBox="1"/>
              <p:nvPr/>
            </p:nvSpPr>
            <p:spPr>
              <a:xfrm>
                <a:off x="7545360" y="5441013"/>
                <a:ext cx="1224170" cy="400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 dirty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000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1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0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0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ko-KR" sz="1000" dirty="0"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 : </a:t>
                </a:r>
                <a:r>
                  <a:rPr lang="ko-KR" altLang="en-US" sz="1000" dirty="0"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예측 값</a:t>
                </a:r>
                <a:endParaRPr lang="en-US" altLang="ko-KR" sz="1000" dirty="0">
                  <a:latin typeface="Times New Roman" panose="02020603050405020304" pitchFamily="18" charset="0"/>
                  <a:ea typeface="LG스마트체2.0 Regular" panose="020B0600000101010101" pitchFamily="50" charset="-127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1000" b="0" i="1" smtClean="0">
                        <a:latin typeface="Cambria Math" panose="02040503050406030204" pitchFamily="18" charset="0"/>
                        <a:ea typeface="LG스마트체2.0 Regular" panose="020B0600000101010101" pitchFamily="50" charset="-127"/>
                        <a:cs typeface="Arial" pitchFamily="34" charset="0"/>
                      </a:rPr>
                      <m:t>𝑟</m:t>
                    </m:r>
                  </m:oMath>
                </a14:m>
                <a:r>
                  <a:rPr lang="en-US" altLang="ko-KR" sz="1000" dirty="0"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 : </a:t>
                </a:r>
                <a:r>
                  <a:rPr lang="ko-KR" altLang="en-US" sz="1000" dirty="0"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정답 </a:t>
                </a:r>
                <a:r>
                  <a:rPr lang="en-US" altLang="ko-KR" sz="1000" dirty="0">
                    <a:latin typeface="Times New Roman" panose="02020603050405020304" pitchFamily="18" charset="0"/>
                    <a:ea typeface="LG스마트체2.0 Regular" panose="020B0600000101010101" pitchFamily="50" charset="-127"/>
                    <a:cs typeface="Times New Roman" panose="02020603050405020304" pitchFamily="18" charset="0"/>
                  </a:rPr>
                  <a:t>(reward)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B0F319-C4B1-9C55-DD78-C6533D05B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360" y="5441013"/>
                <a:ext cx="1224170" cy="400110"/>
              </a:xfrm>
              <a:prstGeom prst="rect">
                <a:avLst/>
              </a:prstGeom>
              <a:blipFill>
                <a:blip r:embed="rId5"/>
                <a:stretch>
                  <a:fillRect b="-597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6319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0D05A5-22F9-13C6-2152-22B4A2F61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강화학습 알고리즘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C8B6FE-5C9D-6AE1-1D6F-F5FC289CE7D7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>
            <a:normAutofit/>
          </a:bodyPr>
          <a:lstStyle/>
          <a:p>
            <a:r>
              <a:rPr lang="en-US" dirty="0"/>
              <a:t>Hyperparameter </a:t>
            </a:r>
            <a:r>
              <a:rPr lang="ko-KR" altLang="en-US" dirty="0"/>
              <a:t>설명</a:t>
            </a:r>
            <a:endParaRPr lang="en-US" altLang="ko-KR" dirty="0"/>
          </a:p>
          <a:p>
            <a:pPr lvl="1"/>
            <a:r>
              <a:rPr lang="en-US" altLang="ko-KR" dirty="0"/>
              <a:t>Dimension of hidden layer : </a:t>
            </a:r>
            <a:r>
              <a:rPr lang="en-US" altLang="ko-KR" dirty="0" err="1">
                <a:latin typeface="Consolas" panose="020B0609020204030204" pitchFamily="49" charset="0"/>
              </a:rPr>
              <a:t>hidden_dim</a:t>
            </a:r>
            <a:r>
              <a:rPr lang="en-US" altLang="ko-KR" dirty="0">
                <a:latin typeface="Consolas" panose="020B0609020204030204" pitchFamily="49" charset="0"/>
              </a:rPr>
              <a:t> = 128</a:t>
            </a:r>
          </a:p>
          <a:p>
            <a:pPr lvl="2"/>
            <a:r>
              <a:rPr lang="en-US" altLang="ko-KR" dirty="0"/>
              <a:t>Q-network</a:t>
            </a:r>
            <a:r>
              <a:rPr lang="ko-KR" altLang="en-US" dirty="0"/>
              <a:t>의 은닉층 </a:t>
            </a:r>
            <a:r>
              <a:rPr lang="en-US" altLang="ko-KR" dirty="0"/>
              <a:t>(hidden layer)</a:t>
            </a:r>
            <a:r>
              <a:rPr lang="ko-KR" altLang="en-US" dirty="0"/>
              <a:t> 크기</a:t>
            </a:r>
            <a:endParaRPr lang="en-US" altLang="ko-KR" dirty="0"/>
          </a:p>
          <a:p>
            <a:pPr lvl="2"/>
            <a:r>
              <a:rPr lang="en-US" altLang="ko-KR" dirty="0"/>
              <a:t>State </a:t>
            </a:r>
            <a:r>
              <a:rPr lang="ko-KR" altLang="en-US" dirty="0"/>
              <a:t>차원이 비교적 작은 </a:t>
            </a:r>
            <a:r>
              <a:rPr lang="en-US" altLang="ko-KR" dirty="0"/>
              <a:t>task … </a:t>
            </a:r>
            <a:r>
              <a:rPr lang="ko-KR" altLang="en-US" dirty="0"/>
              <a:t>너무 깊은 네트워크는 과적합 및 학습 불안정 문제 발생</a:t>
            </a:r>
            <a:endParaRPr lang="en-US" altLang="ko-KR" dirty="0"/>
          </a:p>
          <a:p>
            <a:pPr marL="174625" lvl="2" indent="0">
              <a:buNone/>
            </a:pPr>
            <a:r>
              <a:rPr lang="ko-KR" altLang="en-US" dirty="0"/>
              <a:t>→ 중간 정도의 크기 선택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Learning rate : </a:t>
            </a:r>
            <a:r>
              <a:rPr lang="en-US" altLang="ko-KR" dirty="0" err="1">
                <a:latin typeface="Consolas" panose="020B0609020204030204" pitchFamily="49" charset="0"/>
              </a:rPr>
              <a:t>lr</a:t>
            </a:r>
            <a:r>
              <a:rPr lang="en-US" altLang="ko-KR" dirty="0">
                <a:latin typeface="Consolas" panose="020B0609020204030204" pitchFamily="49" charset="0"/>
              </a:rPr>
              <a:t> = 1e-3</a:t>
            </a:r>
          </a:p>
          <a:p>
            <a:pPr lvl="2"/>
            <a:r>
              <a:rPr lang="en-US" altLang="ko-KR" dirty="0"/>
              <a:t>Adam optimizer</a:t>
            </a:r>
            <a:r>
              <a:rPr lang="ko-KR" altLang="en-US" dirty="0"/>
              <a:t>의 학습률 </a:t>
            </a:r>
            <a:r>
              <a:rPr lang="en-US" altLang="ko-KR" dirty="0"/>
              <a:t>(learning</a:t>
            </a:r>
            <a:r>
              <a:rPr lang="ko-KR" altLang="en-US" dirty="0"/>
              <a:t> </a:t>
            </a:r>
            <a:r>
              <a:rPr lang="en-US" altLang="ko-KR" dirty="0"/>
              <a:t>rate)</a:t>
            </a:r>
          </a:p>
          <a:p>
            <a:pPr lvl="2"/>
            <a:r>
              <a:rPr lang="ko-KR" altLang="en-US" dirty="0"/>
              <a:t>값이 너무 크면 </a:t>
            </a:r>
            <a:r>
              <a:rPr lang="en-US" altLang="ko-KR" dirty="0"/>
              <a:t>Q</a:t>
            </a:r>
            <a:r>
              <a:rPr lang="ko-KR" altLang="en-US" dirty="0"/>
              <a:t>값이 발산하고</a:t>
            </a:r>
            <a:r>
              <a:rPr lang="en-US" altLang="ko-KR" dirty="0"/>
              <a:t>,</a:t>
            </a:r>
            <a:r>
              <a:rPr lang="ko-KR" altLang="en-US" dirty="0"/>
              <a:t> 너무 작으면 정책 변화가 매우 느림</a:t>
            </a:r>
            <a:endParaRPr lang="en-US" altLang="ko-KR" dirty="0"/>
          </a:p>
          <a:p>
            <a:pPr marL="174625" lvl="2" indent="0">
              <a:buNone/>
            </a:pPr>
            <a:r>
              <a:rPr lang="ko-KR" altLang="en-US" dirty="0"/>
              <a:t>→ 경험적으로 안정적인 범위인 </a:t>
            </a:r>
            <a:r>
              <a:rPr lang="en-US" altLang="ko-KR" dirty="0"/>
              <a:t>1e-3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Buffer capacity : </a:t>
            </a:r>
            <a:r>
              <a:rPr lang="en-US" altLang="ko-KR" dirty="0" err="1">
                <a:latin typeface="Consolas" panose="020B0609020204030204" pitchFamily="49" charset="0"/>
              </a:rPr>
              <a:t>buffer_capacity</a:t>
            </a:r>
            <a:r>
              <a:rPr lang="en-US" altLang="ko-KR" dirty="0">
                <a:latin typeface="Consolas" panose="020B0609020204030204" pitchFamily="49" charset="0"/>
              </a:rPr>
              <a:t> = 10000</a:t>
            </a:r>
          </a:p>
          <a:p>
            <a:pPr lvl="2"/>
            <a:r>
              <a:rPr lang="en-US" altLang="ko-KR" dirty="0"/>
              <a:t>Replay buffer</a:t>
            </a:r>
            <a:r>
              <a:rPr lang="ko-KR" altLang="en-US" dirty="0"/>
              <a:t>에 저장할 수 있는 최대 </a:t>
            </a:r>
            <a:r>
              <a:rPr lang="en-US" altLang="ko-KR" dirty="0"/>
              <a:t>transition </a:t>
            </a:r>
            <a:r>
              <a:rPr lang="ko-KR" altLang="en-US" dirty="0"/>
              <a:t>수</a:t>
            </a:r>
            <a:endParaRPr lang="en-US" altLang="ko-KR" dirty="0"/>
          </a:p>
          <a:p>
            <a:pPr lvl="2"/>
            <a:r>
              <a:rPr lang="ko-KR" altLang="en-US" dirty="0"/>
              <a:t>메모리 사용량과 다양성 사이의 타협</a:t>
            </a:r>
            <a:endParaRPr lang="en-US" altLang="ko-KR" dirty="0"/>
          </a:p>
          <a:p>
            <a:pPr marL="174625" lvl="2" indent="0">
              <a:buNone/>
            </a:pPr>
            <a:r>
              <a:rPr lang="ko-KR" altLang="en-US" dirty="0"/>
              <a:t>→ 여러 </a:t>
            </a:r>
            <a:r>
              <a:rPr lang="en-US" altLang="ko-KR" dirty="0"/>
              <a:t>AL cycle</a:t>
            </a:r>
            <a:r>
              <a:rPr lang="ko-KR" altLang="en-US" dirty="0"/>
              <a:t>에서 다양한 샘플을 축적하기 위한 충분한 크기로 지정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80399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004EE-009D-AC68-D187-D12E11547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E0E4F2-9D7C-27DC-91E3-DCD66AD29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강화학습 알고리즘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EA77A0-216B-51B6-EDB8-78DB3D505A32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>
            <a:normAutofit/>
          </a:bodyPr>
          <a:lstStyle/>
          <a:p>
            <a:r>
              <a:rPr lang="en-US" dirty="0"/>
              <a:t>Hyperparameter </a:t>
            </a:r>
            <a:r>
              <a:rPr lang="ko-KR" altLang="en-US" dirty="0"/>
              <a:t>설명</a:t>
            </a:r>
            <a:endParaRPr lang="en-US" altLang="ko-KR" dirty="0"/>
          </a:p>
          <a:p>
            <a:pPr lvl="1">
              <a:buFont typeface="+mj-lt"/>
              <a:buAutoNum type="arabicPeriod" startAt="4"/>
            </a:pPr>
            <a:r>
              <a:rPr lang="en-US" altLang="ko-KR" dirty="0"/>
              <a:t>Batch size : </a:t>
            </a:r>
            <a:r>
              <a:rPr lang="en-US" altLang="ko-KR" dirty="0" err="1">
                <a:latin typeface="Consolas" panose="020B0609020204030204" pitchFamily="49" charset="0"/>
              </a:rPr>
              <a:t>batch_size</a:t>
            </a:r>
            <a:r>
              <a:rPr lang="en-US" altLang="ko-KR" dirty="0">
                <a:latin typeface="Consolas" panose="020B0609020204030204" pitchFamily="49" charset="0"/>
              </a:rPr>
              <a:t> = 64</a:t>
            </a:r>
          </a:p>
          <a:p>
            <a:pPr lvl="2"/>
            <a:r>
              <a:rPr lang="en-US" altLang="ko-KR" dirty="0"/>
              <a:t>DQN </a:t>
            </a:r>
            <a:r>
              <a:rPr lang="ko-KR" altLang="en-US" dirty="0"/>
              <a:t>업데이트 시 한 번에 사용할 </a:t>
            </a:r>
            <a:r>
              <a:rPr lang="en-US" altLang="ko-KR" dirty="0"/>
              <a:t>transition </a:t>
            </a:r>
            <a:r>
              <a:rPr lang="ko-KR" altLang="en-US" dirty="0"/>
              <a:t>수</a:t>
            </a:r>
            <a:endParaRPr lang="en-US" altLang="ko-KR" dirty="0"/>
          </a:p>
          <a:p>
            <a:pPr marL="174625" lvl="2" indent="0">
              <a:buNone/>
            </a:pPr>
            <a:r>
              <a:rPr lang="ko-KR" altLang="en-US" dirty="0"/>
              <a:t>→ 일반적인 분류</a:t>
            </a:r>
            <a:r>
              <a:rPr lang="en-US" altLang="ko-KR" dirty="0"/>
              <a:t>/</a:t>
            </a:r>
            <a:r>
              <a:rPr lang="ko-KR" altLang="en-US" dirty="0"/>
              <a:t>강화학습 설정에서 자주 쓰는 값 사용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>
              <a:buFont typeface="+mj-lt"/>
              <a:buAutoNum type="arabicPeriod" startAt="4"/>
            </a:pPr>
            <a:r>
              <a:rPr lang="en-US" altLang="ko-KR" dirty="0"/>
              <a:t>Gradient step : </a:t>
            </a:r>
            <a:r>
              <a:rPr lang="en-US" altLang="ko-KR" dirty="0" err="1">
                <a:latin typeface="Consolas" panose="020B0609020204030204" pitchFamily="49" charset="0"/>
              </a:rPr>
              <a:t>train_steps</a:t>
            </a:r>
            <a:r>
              <a:rPr lang="en-US" altLang="ko-KR" dirty="0">
                <a:latin typeface="Consolas" panose="020B0609020204030204" pitchFamily="49" charset="0"/>
              </a:rPr>
              <a:t> = 200</a:t>
            </a:r>
            <a:endParaRPr lang="en-US" altLang="ko-KR" dirty="0"/>
          </a:p>
          <a:p>
            <a:pPr lvl="2"/>
            <a:r>
              <a:rPr lang="ko-KR" altLang="en-US" dirty="0"/>
              <a:t>한 </a:t>
            </a:r>
            <a:r>
              <a:rPr lang="en-US" altLang="ko-KR" dirty="0"/>
              <a:t>Cycle </a:t>
            </a:r>
            <a:r>
              <a:rPr lang="ko-KR" altLang="en-US" dirty="0"/>
              <a:t>당 </a:t>
            </a:r>
            <a:r>
              <a:rPr lang="en-US" altLang="ko-KR" dirty="0"/>
              <a:t>DQN </a:t>
            </a:r>
            <a:r>
              <a:rPr lang="ko-KR" altLang="en-US" dirty="0"/>
              <a:t>업데이트 스텝 수</a:t>
            </a:r>
            <a:endParaRPr lang="en-US" altLang="ko-KR" dirty="0"/>
          </a:p>
          <a:p>
            <a:pPr lvl="2"/>
            <a:r>
              <a:rPr lang="en-US" altLang="ko-KR" dirty="0"/>
              <a:t>Replay buffer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기반으로 미니 배치 업데이트를 몇 번 반복할지 결정</a:t>
            </a:r>
            <a:endParaRPr lang="en-US" altLang="ko-KR" dirty="0"/>
          </a:p>
          <a:p>
            <a:pPr marL="174625" lvl="2" indent="0">
              <a:buNone/>
            </a:pPr>
            <a:r>
              <a:rPr lang="ko-KR" altLang="en-US" dirty="0"/>
              <a:t>→ </a:t>
            </a:r>
            <a:r>
              <a:rPr lang="ko-KR" altLang="en-US" b="1" dirty="0"/>
              <a:t>실험을 통해 </a:t>
            </a:r>
            <a:r>
              <a:rPr lang="en-US" altLang="ko-KR" b="1" dirty="0"/>
              <a:t>DQN</a:t>
            </a:r>
            <a:r>
              <a:rPr lang="ko-KR" altLang="en-US" b="1" dirty="0"/>
              <a:t>이 새로 추가된 경험에 충분히 적응하도록 하기 위한 최적의 값을 관찰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1559793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FB8A9-571D-3F42-74BE-FAD80FE52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셋업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80FC90-3A7A-780E-D326-E5A7B79A0114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ko-KR" altLang="en-US" dirty="0"/>
              <a:t>실험 환경</a:t>
            </a:r>
            <a:endParaRPr lang="en-US" altLang="ko-KR" dirty="0"/>
          </a:p>
          <a:p>
            <a:pPr lvl="1"/>
            <a:r>
              <a:rPr lang="ko-KR" altLang="en-US" dirty="0"/>
              <a:t>서버 스펙</a:t>
            </a:r>
            <a:endParaRPr lang="en-US" altLang="ko-KR" dirty="0"/>
          </a:p>
          <a:p>
            <a:pPr lvl="2"/>
            <a:r>
              <a:rPr lang="en-US" altLang="ko-KR" dirty="0"/>
              <a:t>CPU : AMD Ryzen </a:t>
            </a:r>
            <a:r>
              <a:rPr lang="en-US" altLang="ko-KR" dirty="0" err="1"/>
              <a:t>Threadriper</a:t>
            </a:r>
            <a:r>
              <a:rPr lang="en-US" altLang="ko-KR" dirty="0"/>
              <a:t> PRO 3975WX 32-Cores</a:t>
            </a:r>
          </a:p>
          <a:p>
            <a:pPr lvl="2"/>
            <a:r>
              <a:rPr lang="en-US" dirty="0"/>
              <a:t>GPU : NVIDIA RTX A6000</a:t>
            </a:r>
          </a:p>
          <a:p>
            <a:pPr lvl="2"/>
            <a:r>
              <a:rPr lang="en-US" dirty="0"/>
              <a:t>CUDA : v11.5</a:t>
            </a:r>
          </a:p>
          <a:p>
            <a:pPr lvl="2"/>
            <a:endParaRPr lang="en-US" dirty="0"/>
          </a:p>
          <a:p>
            <a:pPr lvl="1"/>
            <a:r>
              <a:rPr lang="ko-KR" altLang="en-US" dirty="0"/>
              <a:t>가상 환경 </a:t>
            </a:r>
            <a:r>
              <a:rPr lang="en-US" altLang="ko-KR" dirty="0"/>
              <a:t>(</a:t>
            </a:r>
            <a:r>
              <a:rPr lang="en-US" altLang="ko-KR" dirty="0" err="1"/>
              <a:t>Github</a:t>
            </a:r>
            <a:r>
              <a:rPr lang="ko-KR" altLang="en-US" dirty="0"/>
              <a:t> </a:t>
            </a:r>
            <a:r>
              <a:rPr lang="en-US" altLang="ko-KR" dirty="0"/>
              <a:t>repository</a:t>
            </a:r>
            <a:r>
              <a:rPr lang="ko-KR" altLang="en-US" dirty="0"/>
              <a:t>에 </a:t>
            </a:r>
            <a:r>
              <a:rPr lang="en-US" altLang="ko-KR" dirty="0"/>
              <a:t>requirements.txt </a:t>
            </a:r>
            <a:r>
              <a:rPr lang="ko-KR" altLang="en-US" dirty="0"/>
              <a:t>파일 저장 및 </a:t>
            </a:r>
            <a:r>
              <a:rPr lang="en-US" altLang="ko-KR" dirty="0"/>
              <a:t>README</a:t>
            </a:r>
            <a:r>
              <a:rPr lang="ko-KR" altLang="en-US" dirty="0"/>
              <a:t> 내 설치 방법 안내 완료</a:t>
            </a:r>
            <a:r>
              <a:rPr lang="en-US" altLang="ko-KR" dirty="0"/>
              <a:t>)</a:t>
            </a:r>
          </a:p>
          <a:p>
            <a:pPr lvl="2"/>
            <a:r>
              <a:rPr lang="en-US" dirty="0"/>
              <a:t>Python : v3.8.20</a:t>
            </a:r>
          </a:p>
          <a:p>
            <a:pPr lvl="2"/>
            <a:r>
              <a:rPr lang="en-US" dirty="0"/>
              <a:t>PyTorch : v1.10.2</a:t>
            </a:r>
          </a:p>
          <a:p>
            <a:pPr lvl="2"/>
            <a:r>
              <a:rPr lang="en-US" dirty="0"/>
              <a:t>Torch vision : v1.21.6</a:t>
            </a:r>
          </a:p>
          <a:p>
            <a:pPr lvl="2"/>
            <a:r>
              <a:rPr lang="en-US" dirty="0"/>
              <a:t>CUDA toolkit : v11.3.1</a:t>
            </a:r>
          </a:p>
          <a:p>
            <a:pPr lvl="2"/>
            <a:r>
              <a:rPr lang="en-US" dirty="0"/>
              <a:t>Numpy : v1.21.6</a:t>
            </a:r>
          </a:p>
          <a:p>
            <a:pPr lvl="2"/>
            <a:r>
              <a:rPr lang="en-US" dirty="0"/>
              <a:t>Tqdm : v4.66.2</a:t>
            </a:r>
          </a:p>
        </p:txBody>
      </p:sp>
    </p:spTree>
    <p:extLst>
      <p:ext uri="{BB962C8B-B14F-4D97-AF65-F5344CB8AC3E}">
        <p14:creationId xmlns:p14="http://schemas.microsoft.com/office/powerpoint/2010/main" val="3336861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6F7B8-B978-5A01-CE70-3F10A130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C2792D-8054-3FD8-FB6D-03F3CAE64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셋업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2494D8-A2D7-6253-B81A-2A1584697543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ko-KR" altLang="en-US" dirty="0"/>
              <a:t>평가 지표 </a:t>
            </a:r>
            <a:r>
              <a:rPr lang="en-US" altLang="ko-KR" dirty="0"/>
              <a:t>(</a:t>
            </a:r>
            <a:r>
              <a:rPr lang="en-US" dirty="0"/>
              <a:t>Evaluation metric)</a:t>
            </a:r>
          </a:p>
          <a:p>
            <a:pPr lvl="1"/>
            <a:r>
              <a:rPr lang="en-US" dirty="0"/>
              <a:t>Accuracy ↑ (%)</a:t>
            </a:r>
          </a:p>
          <a:p>
            <a:pPr lvl="2"/>
            <a:r>
              <a:rPr lang="ko-KR" altLang="en-US" dirty="0"/>
              <a:t>모델이 예측한 </a:t>
            </a:r>
            <a:r>
              <a:rPr lang="en-US" altLang="ko-KR" dirty="0"/>
              <a:t>label</a:t>
            </a:r>
            <a:r>
              <a:rPr lang="ko-KR" altLang="en-US" dirty="0"/>
              <a:t>과 실제 </a:t>
            </a:r>
            <a:r>
              <a:rPr lang="en-US" altLang="ko-KR" dirty="0"/>
              <a:t>label </a:t>
            </a:r>
            <a:r>
              <a:rPr lang="ko-KR" altLang="en-US" dirty="0"/>
              <a:t>간의 비교를 통해 정확도 </a:t>
            </a:r>
            <a:r>
              <a:rPr lang="en-US" altLang="ko-KR" dirty="0"/>
              <a:t>(</a:t>
            </a:r>
            <a:r>
              <a:rPr lang="ko-KR" altLang="en-US" dirty="0"/>
              <a:t>정답 비율</a:t>
            </a:r>
            <a:r>
              <a:rPr lang="en-US" altLang="ko-KR" dirty="0"/>
              <a:t>)</a:t>
            </a:r>
            <a:r>
              <a:rPr lang="ko-KR" altLang="en-US" dirty="0"/>
              <a:t>를 계산</a:t>
            </a:r>
            <a:endParaRPr lang="en-US" altLang="ko-KR" dirty="0"/>
          </a:p>
          <a:p>
            <a:pPr lvl="2"/>
            <a:r>
              <a:rPr lang="ko-KR" altLang="en-US" dirty="0"/>
              <a:t>값이 높을수록 좋은 성능을 발휘하는 모델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결과 분석 기준</a:t>
            </a:r>
            <a:endParaRPr lang="en-US" altLang="ko-KR" dirty="0"/>
          </a:p>
          <a:p>
            <a:pPr lvl="1"/>
            <a:r>
              <a:rPr lang="ko-KR" altLang="en-US" dirty="0"/>
              <a:t>같은 </a:t>
            </a:r>
            <a:r>
              <a:rPr lang="en-US" altLang="ko-KR" dirty="0"/>
              <a:t>cycle</a:t>
            </a:r>
            <a:r>
              <a:rPr lang="ko-KR" altLang="en-US" dirty="0"/>
              <a:t>에서의 </a:t>
            </a:r>
            <a:r>
              <a:rPr lang="en-US" altLang="ko-KR" dirty="0"/>
              <a:t>accuracy </a:t>
            </a:r>
            <a:r>
              <a:rPr lang="ko-KR" altLang="en-US" dirty="0"/>
              <a:t>차이 비교</a:t>
            </a:r>
            <a:endParaRPr lang="en-US" altLang="ko-KR" dirty="0"/>
          </a:p>
          <a:p>
            <a:pPr lvl="2"/>
            <a:r>
              <a:rPr lang="ko-KR" altLang="en-US" dirty="0"/>
              <a:t>같은 양의 </a:t>
            </a:r>
            <a:r>
              <a:rPr lang="en-US" altLang="ko-KR" dirty="0"/>
              <a:t>labeled set</a:t>
            </a:r>
            <a:r>
              <a:rPr lang="ko-KR" altLang="en-US" dirty="0"/>
              <a:t>을 활용 했을 때</a:t>
            </a:r>
            <a:r>
              <a:rPr lang="en-US" altLang="ko-KR" dirty="0"/>
              <a:t>, </a:t>
            </a:r>
            <a:r>
              <a:rPr lang="ko-KR" altLang="en-US" dirty="0"/>
              <a:t>어떤 </a:t>
            </a:r>
            <a:r>
              <a:rPr lang="en-US" altLang="ko-KR" dirty="0"/>
              <a:t>sampling </a:t>
            </a:r>
            <a:r>
              <a:rPr lang="ko-KR" altLang="en-US" dirty="0"/>
              <a:t>기법을 활용한 모델이 더 좋은 성능을 보여주는지 비교 가능</a:t>
            </a:r>
            <a:endParaRPr lang="en-US" altLang="ko-KR" dirty="0"/>
          </a:p>
          <a:p>
            <a:pPr lvl="1"/>
            <a:r>
              <a:rPr lang="ko-KR" altLang="en-US" dirty="0"/>
              <a:t>각 </a:t>
            </a:r>
            <a:r>
              <a:rPr lang="en-US" altLang="ko-KR" dirty="0"/>
              <a:t>cycle </a:t>
            </a:r>
            <a:r>
              <a:rPr lang="ko-KR" altLang="en-US" dirty="0"/>
              <a:t>사이의 </a:t>
            </a:r>
            <a:r>
              <a:rPr lang="en-US" altLang="ko-KR" dirty="0"/>
              <a:t>accuracy </a:t>
            </a:r>
            <a:r>
              <a:rPr lang="ko-KR" altLang="en-US" dirty="0"/>
              <a:t>증가 폭 비교</a:t>
            </a:r>
            <a:endParaRPr lang="en-US" altLang="ko-KR" dirty="0"/>
          </a:p>
          <a:p>
            <a:pPr lvl="2"/>
            <a:r>
              <a:rPr lang="ko-KR" altLang="en-US" dirty="0"/>
              <a:t>어떤 </a:t>
            </a:r>
            <a:r>
              <a:rPr lang="en-US" altLang="ko-KR" dirty="0"/>
              <a:t>sampling </a:t>
            </a:r>
            <a:r>
              <a:rPr lang="ko-KR" altLang="en-US" dirty="0"/>
              <a:t>기법을 활용했을 때 더 효과적으로 정보량이 많은 데이터를 </a:t>
            </a:r>
            <a:r>
              <a:rPr lang="en-US" altLang="ko-KR" dirty="0"/>
              <a:t>sampling</a:t>
            </a:r>
            <a:r>
              <a:rPr lang="ko-KR" altLang="en-US" dirty="0"/>
              <a:t>하는지 상세한 비교 가능</a:t>
            </a:r>
            <a:endParaRPr lang="en-US" altLang="ko-KR" dirty="0"/>
          </a:p>
          <a:p>
            <a:pPr lvl="1"/>
            <a:r>
              <a:rPr lang="ko-KR" altLang="en-US" dirty="0"/>
              <a:t>첫 번째 </a:t>
            </a:r>
            <a:r>
              <a:rPr lang="en-US" altLang="ko-KR" dirty="0"/>
              <a:t>cycle</a:t>
            </a:r>
            <a:r>
              <a:rPr lang="ko-KR" altLang="en-US" dirty="0"/>
              <a:t>과 마지막 </a:t>
            </a:r>
            <a:r>
              <a:rPr lang="en-US" altLang="ko-KR" dirty="0"/>
              <a:t>cycle </a:t>
            </a:r>
            <a:r>
              <a:rPr lang="ko-KR" altLang="en-US" dirty="0"/>
              <a:t>사이의 증가 폭 비교</a:t>
            </a:r>
            <a:endParaRPr lang="en-US" altLang="ko-KR" dirty="0"/>
          </a:p>
          <a:p>
            <a:pPr lvl="2"/>
            <a:r>
              <a:rPr lang="ko-KR" altLang="en-US" dirty="0"/>
              <a:t>어떤 </a:t>
            </a:r>
            <a:r>
              <a:rPr lang="en-US" altLang="ko-KR" dirty="0"/>
              <a:t>sampling </a:t>
            </a:r>
            <a:r>
              <a:rPr lang="ko-KR" altLang="en-US" dirty="0"/>
              <a:t>기법을 활용했을 때 더 효과적으로 정보량이 많은 데이터를</a:t>
            </a:r>
            <a:r>
              <a:rPr lang="en-US" altLang="ko-KR" dirty="0"/>
              <a:t> sampling</a:t>
            </a:r>
            <a:r>
              <a:rPr lang="ko-KR" altLang="en-US" dirty="0"/>
              <a:t>하는지 전반적인 비교 가능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556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010FB-CB81-804F-B049-B7970C858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1A4C3-85F3-DC07-010F-6C7DFB14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 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130EE7-E545-09A2-EE6B-6884E4719FE1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en-US" dirty="0"/>
              <a:t>Summary (</a:t>
            </a:r>
            <a:r>
              <a:rPr lang="en-US" dirty="0">
                <a:latin typeface="Consolas" panose="020B0609020204030204" pitchFamily="49" charset="0"/>
              </a:rPr>
              <a:t>RANDOM_SEED = 0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D899825A-550A-FE21-7122-F2016EC8E69D}"/>
              </a:ext>
            </a:extLst>
          </p:cNvPr>
          <p:cNvGrpSpPr/>
          <p:nvPr/>
        </p:nvGrpSpPr>
        <p:grpSpPr>
          <a:xfrm>
            <a:off x="395822" y="1196690"/>
            <a:ext cx="9114356" cy="5112711"/>
            <a:chOff x="825428" y="245996"/>
            <a:chExt cx="8713210" cy="4887677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74EAE2D-0553-F0E1-14C3-19E7310FE1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5428" y="2810150"/>
              <a:ext cx="8713210" cy="2323523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DC8E90B4-1FC3-C586-043D-719BF013D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5428" y="245996"/>
              <a:ext cx="8713210" cy="2323523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0B1CCDC-0A1D-9B50-C61B-B73585B0D735}"/>
              </a:ext>
            </a:extLst>
          </p:cNvPr>
          <p:cNvSpPr txBox="1"/>
          <p:nvPr/>
        </p:nvSpPr>
        <p:spPr>
          <a:xfrm>
            <a:off x="3728787" y="3574230"/>
            <a:ext cx="244842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>
                <a:latin typeface="+mn-lt"/>
                <a:ea typeface="+mn-ea"/>
                <a:cs typeface="Arial" pitchFamily="34" charset="0"/>
              </a:rPr>
              <a:t>&lt;Visualization of test accuracy 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CED990-A780-DCE0-7751-122F188C953E}"/>
              </a:ext>
            </a:extLst>
          </p:cNvPr>
          <p:cNvSpPr txBox="1"/>
          <p:nvPr/>
        </p:nvSpPr>
        <p:spPr>
          <a:xfrm>
            <a:off x="2662758" y="6248431"/>
            <a:ext cx="4580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n-lt"/>
                <a:ea typeface="+mn-ea"/>
                <a:cs typeface="Arial" pitchFamily="34" charset="0"/>
              </a:rPr>
              <a:t>&lt;V</a:t>
            </a:r>
            <a:r>
              <a:rPr lang="en-US" sz="1200" dirty="0">
                <a:latin typeface="+mn-lt"/>
                <a:cs typeface="Arial" pitchFamily="34" charset="0"/>
              </a:rPr>
              <a:t>isualization of </a:t>
            </a:r>
            <a:r>
              <a:rPr lang="en-US" sz="1200" dirty="0">
                <a:latin typeface="+mn-lt"/>
                <a:ea typeface="+mn-ea"/>
                <a:cs typeface="Arial" pitchFamily="34" charset="0"/>
              </a:rPr>
              <a:t>relative improvement over random sampling&gt;</a:t>
            </a:r>
          </a:p>
        </p:txBody>
      </p:sp>
    </p:spTree>
    <p:extLst>
      <p:ext uri="{BB962C8B-B14F-4D97-AF65-F5344CB8AC3E}">
        <p14:creationId xmlns:p14="http://schemas.microsoft.com/office/powerpoint/2010/main" val="1395357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64B433-821F-7210-A9A7-072AC6545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 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0DE3E4-7E30-3FDA-3C5B-24909E1483D6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ko-KR" altLang="en-US" dirty="0"/>
              <a:t>데이터셋 별 실험 결과 </a:t>
            </a:r>
            <a:r>
              <a:rPr lang="en-US" altLang="ko-KR" dirty="0"/>
              <a:t>(</a:t>
            </a:r>
            <a:r>
              <a:rPr lang="en-US" altLang="ko-KR" dirty="0">
                <a:latin typeface="Consolas" panose="020B0609020204030204" pitchFamily="49" charset="0"/>
              </a:rPr>
              <a:t>RANDOM_SEED = 0</a:t>
            </a:r>
            <a:r>
              <a:rPr lang="en-US" altLang="ko-KR" dirty="0"/>
              <a:t>)</a:t>
            </a:r>
            <a:endParaRPr lang="en-US" dirty="0"/>
          </a:p>
          <a:p>
            <a:pPr lvl="1"/>
            <a:r>
              <a:rPr lang="en-US" dirty="0"/>
              <a:t>CIFAR-10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54F330B-7012-5D8D-657D-09AFE3464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372854"/>
              </p:ext>
            </p:extLst>
          </p:nvPr>
        </p:nvGraphicFramePr>
        <p:xfrm>
          <a:off x="269351" y="2270890"/>
          <a:ext cx="9361297" cy="274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027">
                  <a:extLst>
                    <a:ext uri="{9D8B030D-6E8A-4147-A177-3AD203B41FA5}">
                      <a16:colId xmlns:a16="http://schemas.microsoft.com/office/drawing/2014/main" val="3809730735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4205168723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1044513185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3657400088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993999842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3540285944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1005821948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3541098617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951503658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1122749711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31324963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Method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10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55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Random Sampling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46.15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57.94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66.82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72.50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78.97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82.83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84.93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85.55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86.86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87.12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134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DQN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(100 step)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54.83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57.78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68.05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75.73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81.25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84.33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86.57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88.26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88.93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316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DQN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(200 step)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64.23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72.51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78.06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83.68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85.48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87.65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88.58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89.47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406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DQN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(300 step)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64.01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71.45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79.09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82.79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85.72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86.94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88.61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89.15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01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DQN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(400 step)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63.92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72.07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79.73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83.76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84.72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86.75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88.14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89.34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260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DQN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(500 step)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64.45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71.73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78.40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83.14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84.89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87.24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88.52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89.82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977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8159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8F238-AAC7-FCE2-8ED5-9F2BCDC64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93F1B-2618-6CBE-4068-FC6905F4E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 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E8DE0F-8301-2ECA-0995-8493275B11B0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ko-KR" altLang="en-US" dirty="0"/>
              <a:t>데이터셋 별 실험 결과 </a:t>
            </a:r>
            <a:r>
              <a:rPr lang="en-US" altLang="ko-KR" dirty="0"/>
              <a:t>(</a:t>
            </a:r>
            <a:r>
              <a:rPr lang="en-US" altLang="ko-KR" dirty="0">
                <a:latin typeface="Consolas" panose="020B0609020204030204" pitchFamily="49" charset="0"/>
              </a:rPr>
              <a:t>RANDOM_SEED = 0</a:t>
            </a:r>
            <a:r>
              <a:rPr lang="en-US" altLang="ko-KR" dirty="0"/>
              <a:t>)</a:t>
            </a:r>
          </a:p>
          <a:p>
            <a:pPr lvl="1">
              <a:buFont typeface="+mj-lt"/>
              <a:buAutoNum type="arabicPeriod" startAt="2"/>
            </a:pPr>
            <a:r>
              <a:rPr lang="en-US" dirty="0"/>
              <a:t>CIFAR-100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C3C2CD0-FDF4-F18D-6E95-5D4771A48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961780"/>
              </p:ext>
            </p:extLst>
          </p:nvPr>
        </p:nvGraphicFramePr>
        <p:xfrm>
          <a:off x="269351" y="2270890"/>
          <a:ext cx="9361297" cy="274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027">
                  <a:extLst>
                    <a:ext uri="{9D8B030D-6E8A-4147-A177-3AD203B41FA5}">
                      <a16:colId xmlns:a16="http://schemas.microsoft.com/office/drawing/2014/main" val="3809730735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4205168723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1044513185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3657400088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993999842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3540285944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1005821948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3541098617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951503658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1122749711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31324963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Method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10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55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Random Sampling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21.03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30.81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42.19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46.77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51.39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56.05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58.91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61.03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63.27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64.28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134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DQN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(100 step)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27.56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36.64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43.87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49.41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54.14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58.68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60.79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63.64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65.67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316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DQN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(200 step)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37.10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43.85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49.76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54.16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58.15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60.98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63.79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65.52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406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DQN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(300 step)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36.92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44.10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49.51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54.24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57.84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61.27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63.02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65.36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01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DQN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(400 step)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37.54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44.22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49.25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54.20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57.69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60.86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62.90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65.15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260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DQN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(500 step)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36.66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43.50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49.28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53.36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57.23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60.44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63.54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64.79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977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902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23A6A-FB7B-DD15-F236-AD0949862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4F8693-92AF-2D24-8ED5-BE7084D9A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 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161D17-EC04-C84B-4CFD-D04D5ED3351C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ko-KR" altLang="en-US" dirty="0"/>
              <a:t>데이터셋 별 실험 결과 </a:t>
            </a:r>
            <a:r>
              <a:rPr lang="en-US" altLang="ko-KR" dirty="0"/>
              <a:t>(</a:t>
            </a:r>
            <a:r>
              <a:rPr lang="en-US" altLang="ko-KR" dirty="0">
                <a:latin typeface="Consolas" panose="020B0609020204030204" pitchFamily="49" charset="0"/>
              </a:rPr>
              <a:t>RANDOM_SEED = 0</a:t>
            </a:r>
            <a:r>
              <a:rPr lang="en-US" altLang="ko-KR" dirty="0"/>
              <a:t>)</a:t>
            </a:r>
          </a:p>
          <a:p>
            <a:pPr lvl="1">
              <a:buFont typeface="+mj-lt"/>
              <a:buAutoNum type="arabicPeriod" startAt="3"/>
            </a:pPr>
            <a:r>
              <a:rPr lang="en-US" dirty="0"/>
              <a:t>Fashion MNIST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4ACDFB7-F5AD-5BF6-1E78-28AB463F8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392963"/>
              </p:ext>
            </p:extLst>
          </p:nvPr>
        </p:nvGraphicFramePr>
        <p:xfrm>
          <a:off x="269351" y="2270890"/>
          <a:ext cx="9361297" cy="274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1027">
                  <a:extLst>
                    <a:ext uri="{9D8B030D-6E8A-4147-A177-3AD203B41FA5}">
                      <a16:colId xmlns:a16="http://schemas.microsoft.com/office/drawing/2014/main" val="3809730735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4205168723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1044513185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3657400088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993999842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3540285944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1005821948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3541098617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951503658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1122749711"/>
                    </a:ext>
                  </a:extLst>
                </a:gridCol>
                <a:gridCol w="851027">
                  <a:extLst>
                    <a:ext uri="{9D8B030D-6E8A-4147-A177-3AD203B41FA5}">
                      <a16:colId xmlns:a16="http://schemas.microsoft.com/office/drawing/2014/main" val="31324963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Method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10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55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Random Sampling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82.01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86.63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88.62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89.69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90.44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91.07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90.92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91.35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91.67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92.05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134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DQN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(100 step)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86.19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88.86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91.04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91.69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92.88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93.56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93.85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94.28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94.35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316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DQN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(200 step)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89.17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90.55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91.62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92.55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93.24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93.31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93.90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94.23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406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DQN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(300 step)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88.78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90.51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91.77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92.70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93.26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93.67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94.30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94.26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019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DQN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(400 step)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88.92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90.56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91.88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92.59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93.01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93.16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93.44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93.59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260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DQN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(500 step)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89.16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90.79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92.02</a:t>
                      </a:r>
                      <a:endParaRPr lang="ko-KR" altLang="en-US" sz="1000" dirty="0">
                        <a:solidFill>
                          <a:srgbClr val="FF0000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92.62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93.00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93.31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93.97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0000FF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94.33</a:t>
                      </a:r>
                      <a:endParaRPr lang="ko-KR" altLang="en-US" sz="1000" dirty="0">
                        <a:solidFill>
                          <a:srgbClr val="0000FF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977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5888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EE298-A7BE-6C43-8DAA-6EC878237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2F58FA-18B1-8D45-24C5-020B6E5A6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결과 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84971D-2957-1E14-B5E5-4442E9F3B17D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en-US" dirty="0"/>
              <a:t>Random seed </a:t>
            </a:r>
            <a:r>
              <a:rPr lang="ko-KR" altLang="en-US" dirty="0"/>
              <a:t>변경을 통한 실험 </a:t>
            </a:r>
            <a:r>
              <a:rPr lang="en-US" altLang="ko-KR" dirty="0"/>
              <a:t>(</a:t>
            </a:r>
            <a:r>
              <a:rPr lang="en-US" altLang="ko-KR" dirty="0">
                <a:latin typeface="Consolas" panose="020B0609020204030204" pitchFamily="49" charset="0"/>
              </a:rPr>
              <a:t>RANDOM_SEED = </a:t>
            </a:r>
            <a:r>
              <a:rPr lang="en-US" altLang="ko-KR" dirty="0" err="1">
                <a:latin typeface="Consolas" panose="020B0609020204030204" pitchFamily="49" charset="0"/>
              </a:rPr>
              <a:t>time_seed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실험 규칙</a:t>
            </a:r>
            <a:endParaRPr lang="en-US" altLang="ko-KR" dirty="0"/>
          </a:p>
          <a:p>
            <a:pPr lvl="2"/>
            <a:r>
              <a:rPr lang="en-US" dirty="0"/>
              <a:t>Random seed</a:t>
            </a:r>
            <a:r>
              <a:rPr lang="ko-KR" altLang="en-US" dirty="0"/>
              <a:t>를 실행 시간 </a:t>
            </a:r>
            <a:r>
              <a:rPr lang="en-US" altLang="ko-KR" dirty="0"/>
              <a:t>(time </a:t>
            </a:r>
            <a:r>
              <a:rPr lang="ko-KR" altLang="en-US" dirty="0"/>
              <a:t>라이브러리 활용</a:t>
            </a:r>
            <a:r>
              <a:rPr lang="en-US" altLang="ko-KR" dirty="0"/>
              <a:t>)</a:t>
            </a:r>
            <a:r>
              <a:rPr lang="ko-KR" altLang="en-US" dirty="0"/>
              <a:t>으로 지정</a:t>
            </a:r>
            <a:endParaRPr lang="en-US" altLang="ko-KR" dirty="0"/>
          </a:p>
          <a:p>
            <a:pPr lvl="2"/>
            <a:r>
              <a:rPr lang="ko-KR" altLang="en-US" dirty="0"/>
              <a:t>각 데이터셋 별로 찾아낸 최적의 </a:t>
            </a:r>
            <a:r>
              <a:rPr lang="en-US" altLang="ko-KR" dirty="0"/>
              <a:t>gradient step*</a:t>
            </a:r>
            <a:r>
              <a:rPr lang="ko-KR" altLang="en-US" dirty="0"/>
              <a:t>을 활용하여</a:t>
            </a:r>
            <a:r>
              <a:rPr lang="en-US" altLang="ko-KR" dirty="0"/>
              <a:t>, </a:t>
            </a:r>
            <a:r>
              <a:rPr lang="ko-KR" altLang="en-US" dirty="0"/>
              <a:t>각각 </a:t>
            </a:r>
            <a:r>
              <a:rPr lang="en-US" altLang="ko-KR" dirty="0"/>
              <a:t>5</a:t>
            </a:r>
            <a:r>
              <a:rPr lang="ko-KR" altLang="en-US" dirty="0"/>
              <a:t>번의 실험 진행 후</a:t>
            </a:r>
            <a:r>
              <a:rPr lang="en-US" altLang="ko-KR" dirty="0"/>
              <a:t> </a:t>
            </a:r>
            <a:r>
              <a:rPr lang="ko-KR" altLang="en-US" dirty="0"/>
              <a:t>평균 값 관찰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실험 결과</a:t>
            </a:r>
            <a:endParaRPr lang="en-US" altLang="ko-KR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D36CBDB-0B36-8577-19ED-5E64D1B95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463597"/>
              </p:ext>
            </p:extLst>
          </p:nvPr>
        </p:nvGraphicFramePr>
        <p:xfrm>
          <a:off x="269350" y="3165620"/>
          <a:ext cx="9361299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159">
                  <a:extLst>
                    <a:ext uri="{9D8B030D-6E8A-4147-A177-3AD203B41FA5}">
                      <a16:colId xmlns:a16="http://schemas.microsoft.com/office/drawing/2014/main" val="3809730735"/>
                    </a:ext>
                  </a:extLst>
                </a:gridCol>
                <a:gridCol w="820614">
                  <a:extLst>
                    <a:ext uri="{9D8B030D-6E8A-4147-A177-3AD203B41FA5}">
                      <a16:colId xmlns:a16="http://schemas.microsoft.com/office/drawing/2014/main" val="4205168723"/>
                    </a:ext>
                  </a:extLst>
                </a:gridCol>
                <a:gridCol w="820614">
                  <a:extLst>
                    <a:ext uri="{9D8B030D-6E8A-4147-A177-3AD203B41FA5}">
                      <a16:colId xmlns:a16="http://schemas.microsoft.com/office/drawing/2014/main" val="1044513185"/>
                    </a:ext>
                  </a:extLst>
                </a:gridCol>
                <a:gridCol w="820614">
                  <a:extLst>
                    <a:ext uri="{9D8B030D-6E8A-4147-A177-3AD203B41FA5}">
                      <a16:colId xmlns:a16="http://schemas.microsoft.com/office/drawing/2014/main" val="3657400088"/>
                    </a:ext>
                  </a:extLst>
                </a:gridCol>
                <a:gridCol w="820614">
                  <a:extLst>
                    <a:ext uri="{9D8B030D-6E8A-4147-A177-3AD203B41FA5}">
                      <a16:colId xmlns:a16="http://schemas.microsoft.com/office/drawing/2014/main" val="993999842"/>
                    </a:ext>
                  </a:extLst>
                </a:gridCol>
                <a:gridCol w="820614">
                  <a:extLst>
                    <a:ext uri="{9D8B030D-6E8A-4147-A177-3AD203B41FA5}">
                      <a16:colId xmlns:a16="http://schemas.microsoft.com/office/drawing/2014/main" val="3540285944"/>
                    </a:ext>
                  </a:extLst>
                </a:gridCol>
                <a:gridCol w="820614">
                  <a:extLst>
                    <a:ext uri="{9D8B030D-6E8A-4147-A177-3AD203B41FA5}">
                      <a16:colId xmlns:a16="http://schemas.microsoft.com/office/drawing/2014/main" val="1005821948"/>
                    </a:ext>
                  </a:extLst>
                </a:gridCol>
                <a:gridCol w="820614">
                  <a:extLst>
                    <a:ext uri="{9D8B030D-6E8A-4147-A177-3AD203B41FA5}">
                      <a16:colId xmlns:a16="http://schemas.microsoft.com/office/drawing/2014/main" val="3541098617"/>
                    </a:ext>
                  </a:extLst>
                </a:gridCol>
                <a:gridCol w="820614">
                  <a:extLst>
                    <a:ext uri="{9D8B030D-6E8A-4147-A177-3AD203B41FA5}">
                      <a16:colId xmlns:a16="http://schemas.microsoft.com/office/drawing/2014/main" val="951503658"/>
                    </a:ext>
                  </a:extLst>
                </a:gridCol>
                <a:gridCol w="820614">
                  <a:extLst>
                    <a:ext uri="{9D8B030D-6E8A-4147-A177-3AD203B41FA5}">
                      <a16:colId xmlns:a16="http://schemas.microsoft.com/office/drawing/2014/main" val="1122749711"/>
                    </a:ext>
                  </a:extLst>
                </a:gridCol>
                <a:gridCol w="820614">
                  <a:extLst>
                    <a:ext uri="{9D8B030D-6E8A-4147-A177-3AD203B41FA5}">
                      <a16:colId xmlns:a16="http://schemas.microsoft.com/office/drawing/2014/main" val="31324963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Dataset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1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2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3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4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5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6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7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8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9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Cycle 10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558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CIFAR-10</a:t>
                      </a:r>
                    </a:p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(200 step)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46.378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56.352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66.186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74.178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80.788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84.486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86.074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87.538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88.854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89.632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134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CIFAR-100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(100 step)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19.820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28.390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38.708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45.446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51.328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55.796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59.000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61.956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64.278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66.124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260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Fashion MNIST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(100 step)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81.898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85.786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88.302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89.816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90.958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91.812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92.650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93.208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93.474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93.844</a:t>
                      </a:r>
                    </a:p>
                  </a:txBody>
                  <a:tcPr marL="6350" marR="6350" marT="635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97713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650EE35-FC23-A9A1-6936-90266FE5ED1A}"/>
              </a:ext>
            </a:extLst>
          </p:cNvPr>
          <p:cNvSpPr txBox="1"/>
          <p:nvPr/>
        </p:nvSpPr>
        <p:spPr>
          <a:xfrm>
            <a:off x="0" y="6237976"/>
            <a:ext cx="990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* </a:t>
            </a:r>
            <a:r>
              <a:rPr lang="ko-KR" altLang="en-US" sz="800" dirty="0">
                <a:latin typeface="+mn-ea"/>
                <a:ea typeface="+mn-ea"/>
              </a:rPr>
              <a:t>다음 슬라이드부터 서술되는 데이터셋 별 실험 결과 분석을 통하여 결정</a:t>
            </a:r>
          </a:p>
        </p:txBody>
      </p:sp>
    </p:spTree>
    <p:extLst>
      <p:ext uri="{BB962C8B-B14F-4D97-AF65-F5344CB8AC3E}">
        <p14:creationId xmlns:p14="http://schemas.microsoft.com/office/powerpoint/2010/main" val="1287508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F3A349-E10A-9202-EFF6-21CB19F04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토의 및 결론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29B33A-7CF3-8B63-4F00-9450559FE946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ko-KR" altLang="en-US" dirty="0"/>
              <a:t>데이터셋 별 실험 결과 분석</a:t>
            </a:r>
            <a:endParaRPr lang="en-US" altLang="ko-KR" dirty="0"/>
          </a:p>
          <a:p>
            <a:pPr lvl="1"/>
            <a:r>
              <a:rPr lang="en-US" dirty="0"/>
              <a:t>CIFAR-10</a:t>
            </a:r>
          </a:p>
          <a:p>
            <a:pPr lvl="2"/>
            <a:r>
              <a:rPr lang="en-US" dirty="0"/>
              <a:t>Random sampling</a:t>
            </a:r>
            <a:r>
              <a:rPr lang="ko-KR" altLang="en-US" dirty="0"/>
              <a:t>과의 결과 비교</a:t>
            </a:r>
            <a:endParaRPr lang="en-US" altLang="ko-KR" dirty="0"/>
          </a:p>
          <a:p>
            <a:pPr lvl="3"/>
            <a:r>
              <a:rPr lang="en-US" altLang="ko-KR" dirty="0"/>
              <a:t>DQN</a:t>
            </a:r>
            <a:r>
              <a:rPr lang="ko-KR" altLang="en-US" dirty="0"/>
              <a:t>이 제대로 학습되지 않은 </a:t>
            </a:r>
            <a:r>
              <a:rPr lang="en-US" altLang="ko-KR" dirty="0"/>
              <a:t>cycle 2~3</a:t>
            </a:r>
            <a:r>
              <a:rPr lang="ko-KR" altLang="en-US" dirty="0"/>
              <a:t>까지는 </a:t>
            </a:r>
            <a:r>
              <a:rPr lang="en-US" altLang="ko-KR" dirty="0"/>
              <a:t>random sampling</a:t>
            </a:r>
            <a:r>
              <a:rPr lang="ko-KR" altLang="en-US" dirty="0"/>
              <a:t>을 활용한 결과가 가장 우수함</a:t>
            </a:r>
            <a:endParaRPr lang="en-US" altLang="ko-KR" dirty="0"/>
          </a:p>
          <a:p>
            <a:pPr lvl="3"/>
            <a:r>
              <a:rPr lang="en-US" altLang="ko-KR" dirty="0"/>
              <a:t>Cycle 4 </a:t>
            </a:r>
            <a:r>
              <a:rPr lang="ko-KR" altLang="en-US" dirty="0"/>
              <a:t>이후로는 </a:t>
            </a:r>
            <a:r>
              <a:rPr lang="en-US" altLang="ko-KR" dirty="0"/>
              <a:t>DQN</a:t>
            </a:r>
            <a:r>
              <a:rPr lang="ko-KR" altLang="en-US" dirty="0"/>
              <a:t>을 활용한 </a:t>
            </a:r>
            <a:r>
              <a:rPr lang="en-US" altLang="ko-KR" dirty="0"/>
              <a:t>sampling </a:t>
            </a:r>
            <a:r>
              <a:rPr lang="ko-KR" altLang="en-US" dirty="0"/>
              <a:t>기법이 거의 대부분 더 우수한 성능을 보임</a:t>
            </a:r>
            <a:endParaRPr lang="en-US" altLang="ko-KR" dirty="0"/>
          </a:p>
          <a:p>
            <a:pPr lvl="2"/>
            <a:r>
              <a:rPr lang="ko-KR" altLang="en-US" dirty="0"/>
              <a:t>최적의 </a:t>
            </a:r>
            <a:r>
              <a:rPr lang="en-US" altLang="ko-KR" dirty="0"/>
              <a:t>DQN gradient step </a:t>
            </a:r>
            <a:r>
              <a:rPr lang="ko-KR" altLang="en-US" dirty="0"/>
              <a:t>분석</a:t>
            </a:r>
            <a:endParaRPr lang="en-US" altLang="ko-KR" dirty="0"/>
          </a:p>
          <a:p>
            <a:pPr lvl="3"/>
            <a:r>
              <a:rPr lang="en-US" altLang="ko-KR" dirty="0"/>
              <a:t>200</a:t>
            </a:r>
            <a:r>
              <a:rPr lang="ko-KR" altLang="en-US" dirty="0"/>
              <a:t> </a:t>
            </a:r>
            <a:r>
              <a:rPr lang="en-US" altLang="ko-KR" dirty="0"/>
              <a:t>step</a:t>
            </a:r>
            <a:r>
              <a:rPr lang="ko-KR" altLang="en-US" dirty="0"/>
              <a:t>에서 </a:t>
            </a:r>
            <a:r>
              <a:rPr lang="en-US" altLang="ko-KR" dirty="0"/>
              <a:t>cycle </a:t>
            </a:r>
            <a:r>
              <a:rPr lang="ko-KR" altLang="en-US" dirty="0"/>
              <a:t>별로 우수한 성능을 기록한 횟수가 가장 많음</a:t>
            </a:r>
            <a:endParaRPr lang="en-US" altLang="ko-KR" dirty="0"/>
          </a:p>
          <a:p>
            <a:pPr lvl="4"/>
            <a:r>
              <a:rPr lang="ko-KR" altLang="en-US" dirty="0"/>
              <a:t>가장 안정적으로 우수한 성능을 계속 발휘한 </a:t>
            </a:r>
            <a:r>
              <a:rPr lang="en-US" altLang="ko-KR" dirty="0"/>
              <a:t>200 step</a:t>
            </a:r>
            <a:r>
              <a:rPr lang="ko-KR" altLang="en-US" dirty="0"/>
              <a:t>을 최적의 </a:t>
            </a:r>
            <a:r>
              <a:rPr lang="en-US" altLang="ko-KR" dirty="0"/>
              <a:t>gradient step</a:t>
            </a:r>
            <a:r>
              <a:rPr lang="ko-KR" altLang="en-US" dirty="0"/>
              <a:t>으로 판단</a:t>
            </a:r>
            <a:endParaRPr lang="en-US" altLang="ko-KR" dirty="0"/>
          </a:p>
          <a:p>
            <a:pPr lvl="4"/>
            <a:endParaRPr lang="en-US" dirty="0"/>
          </a:p>
          <a:p>
            <a:pPr lvl="1"/>
            <a:r>
              <a:rPr lang="en-US" dirty="0"/>
              <a:t>CIFAR-100</a:t>
            </a:r>
          </a:p>
          <a:p>
            <a:pPr lvl="2"/>
            <a:r>
              <a:rPr lang="en-US" altLang="ko-KR" dirty="0"/>
              <a:t>Random sampling</a:t>
            </a:r>
            <a:r>
              <a:rPr lang="ko-KR" altLang="en-US" dirty="0"/>
              <a:t>과의 결과 비교</a:t>
            </a:r>
            <a:endParaRPr lang="en-US" altLang="ko-KR" dirty="0"/>
          </a:p>
          <a:p>
            <a:pPr lvl="3"/>
            <a:r>
              <a:rPr lang="ko-KR" altLang="en-US" dirty="0"/>
              <a:t>정답 </a:t>
            </a:r>
            <a:r>
              <a:rPr lang="en-US" altLang="ko-KR" dirty="0"/>
              <a:t>label</a:t>
            </a:r>
            <a:r>
              <a:rPr lang="ko-KR" altLang="en-US" dirty="0"/>
              <a:t>이 다양한 어려운 데이터셋 </a:t>
            </a:r>
            <a:r>
              <a:rPr lang="en-US" altLang="ko-KR" dirty="0"/>
              <a:t>…</a:t>
            </a:r>
            <a:r>
              <a:rPr lang="ko-KR" altLang="en-US" dirty="0"/>
              <a:t> </a:t>
            </a:r>
            <a:r>
              <a:rPr lang="en-US" altLang="ko-KR" dirty="0"/>
              <a:t>DQN</a:t>
            </a:r>
            <a:r>
              <a:rPr lang="ko-KR" altLang="en-US" dirty="0"/>
              <a:t>이 학습되기까지 많은 </a:t>
            </a:r>
            <a:r>
              <a:rPr lang="en-US" altLang="ko-KR" dirty="0"/>
              <a:t>cycle</a:t>
            </a:r>
            <a:r>
              <a:rPr lang="ko-KR" altLang="en-US" dirty="0"/>
              <a:t>이 필요</a:t>
            </a:r>
            <a:endParaRPr lang="en-US" altLang="ko-KR" dirty="0"/>
          </a:p>
          <a:p>
            <a:pPr lvl="3"/>
            <a:r>
              <a:rPr lang="en-US" altLang="ko-KR" dirty="0"/>
              <a:t>Cycle 9 </a:t>
            </a:r>
            <a:r>
              <a:rPr lang="ko-KR" altLang="en-US" dirty="0"/>
              <a:t>이후에는 </a:t>
            </a:r>
            <a:r>
              <a:rPr lang="en-US" altLang="ko-KR" dirty="0"/>
              <a:t>DQN</a:t>
            </a:r>
            <a:r>
              <a:rPr lang="ko-KR" altLang="en-US" dirty="0"/>
              <a:t>을 활용한 </a:t>
            </a:r>
            <a:r>
              <a:rPr lang="en-US" altLang="ko-KR" dirty="0"/>
              <a:t>sampling </a:t>
            </a:r>
            <a:r>
              <a:rPr lang="ko-KR" altLang="en-US" dirty="0"/>
              <a:t>기법이 더 우수한 성능을 보임</a:t>
            </a:r>
            <a:endParaRPr lang="en-US" altLang="ko-KR" dirty="0"/>
          </a:p>
          <a:p>
            <a:pPr lvl="2"/>
            <a:r>
              <a:rPr lang="ko-KR" altLang="en-US" dirty="0"/>
              <a:t>최적의 </a:t>
            </a:r>
            <a:r>
              <a:rPr lang="en-US" altLang="ko-KR" dirty="0"/>
              <a:t>DQN gradient step </a:t>
            </a:r>
            <a:r>
              <a:rPr lang="ko-KR" altLang="en-US" dirty="0"/>
              <a:t>분석</a:t>
            </a:r>
            <a:endParaRPr lang="en-US" altLang="ko-KR" dirty="0"/>
          </a:p>
          <a:p>
            <a:pPr lvl="3"/>
            <a:r>
              <a:rPr lang="ko-KR" altLang="en-US" dirty="0"/>
              <a:t>전체적으로 유사한 성능 분포 </a:t>
            </a:r>
            <a:r>
              <a:rPr lang="en-US" altLang="ko-KR" dirty="0"/>
              <a:t>… 100 step</a:t>
            </a:r>
            <a:r>
              <a:rPr lang="ko-KR" altLang="en-US" dirty="0"/>
              <a:t>에서</a:t>
            </a:r>
            <a:r>
              <a:rPr lang="en-US" altLang="ko-KR" dirty="0"/>
              <a:t> cycle </a:t>
            </a:r>
            <a:r>
              <a:rPr lang="ko-KR" altLang="en-US" dirty="0"/>
              <a:t>별로 우수한 성능을 기록한 횟수가 가장 많음</a:t>
            </a:r>
            <a:endParaRPr lang="en-US" altLang="ko-KR" dirty="0"/>
          </a:p>
          <a:p>
            <a:pPr lvl="4"/>
            <a:r>
              <a:rPr lang="ko-KR" altLang="en-US" dirty="0"/>
              <a:t>가장 가벼운 모델임에도 불구하고 안정적으로 좋은 성능을 발휘하는 </a:t>
            </a:r>
            <a:r>
              <a:rPr lang="en-US" altLang="ko-KR" dirty="0"/>
              <a:t>100 step</a:t>
            </a:r>
            <a:r>
              <a:rPr lang="ko-KR" altLang="en-US" dirty="0"/>
              <a:t>을 최적의 </a:t>
            </a:r>
            <a:r>
              <a:rPr lang="en-US" altLang="ko-KR" dirty="0"/>
              <a:t>gradient step</a:t>
            </a:r>
            <a:r>
              <a:rPr lang="ko-KR" altLang="en-US" dirty="0"/>
              <a:t>으로 판단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268938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FF8AA-3252-E74D-4731-390770E66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03FF78-0A7C-85E6-B23A-D3DE51BB2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토의 및 결론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66FE09-4AE3-23B6-FEC0-085FC3D02A87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ko-KR" altLang="en-US" dirty="0"/>
              <a:t>데이터셋 별 실험 결과 분석</a:t>
            </a:r>
            <a:endParaRPr lang="en-US" altLang="ko-KR" dirty="0"/>
          </a:p>
          <a:p>
            <a:pPr lvl="1">
              <a:buFont typeface="+mj-lt"/>
              <a:buAutoNum type="arabicPeriod" startAt="3"/>
            </a:pPr>
            <a:r>
              <a:rPr lang="en-US" dirty="0"/>
              <a:t>Fashion MNIST</a:t>
            </a:r>
          </a:p>
          <a:p>
            <a:pPr lvl="2"/>
            <a:r>
              <a:rPr lang="en-US" altLang="ko-KR" dirty="0"/>
              <a:t>Random sampling</a:t>
            </a:r>
            <a:r>
              <a:rPr lang="ko-KR" altLang="en-US" dirty="0"/>
              <a:t>과의 결과 비교</a:t>
            </a:r>
            <a:endParaRPr lang="en-US" altLang="ko-KR" dirty="0"/>
          </a:p>
          <a:p>
            <a:pPr lvl="3"/>
            <a:r>
              <a:rPr lang="en-US" altLang="ko-KR" dirty="0"/>
              <a:t>DQN</a:t>
            </a:r>
            <a:r>
              <a:rPr lang="ko-KR" altLang="en-US" dirty="0"/>
              <a:t>이 거의 학습되지 않은 </a:t>
            </a:r>
            <a:r>
              <a:rPr lang="en-US" altLang="ko-KR" dirty="0"/>
              <a:t>cycle 2 </a:t>
            </a:r>
            <a:r>
              <a:rPr lang="ko-KR" altLang="en-US" dirty="0"/>
              <a:t>이후로는</a:t>
            </a:r>
            <a:r>
              <a:rPr lang="en-US" altLang="ko-KR" dirty="0"/>
              <a:t>, train step </a:t>
            </a:r>
            <a:r>
              <a:rPr lang="ko-KR" altLang="en-US" dirty="0"/>
              <a:t>수에 관계 없이 </a:t>
            </a:r>
            <a:r>
              <a:rPr lang="en-US" altLang="ko-KR" dirty="0"/>
              <a:t>DQN</a:t>
            </a:r>
            <a:r>
              <a:rPr lang="ko-KR" altLang="en-US" dirty="0"/>
              <a:t>을 활용한 </a:t>
            </a:r>
            <a:r>
              <a:rPr lang="en-US" altLang="ko-KR" dirty="0"/>
              <a:t>sampling </a:t>
            </a:r>
            <a:r>
              <a:rPr lang="ko-KR" altLang="en-US" dirty="0"/>
              <a:t>기법이 더 우수한 성능을 보임</a:t>
            </a:r>
            <a:endParaRPr lang="en-US" altLang="ko-KR" dirty="0"/>
          </a:p>
          <a:p>
            <a:pPr lvl="2"/>
            <a:r>
              <a:rPr lang="ko-KR" altLang="en-US" dirty="0"/>
              <a:t>최적의 </a:t>
            </a:r>
            <a:r>
              <a:rPr lang="en-US" altLang="ko-KR" dirty="0"/>
              <a:t>DQN gradient step </a:t>
            </a:r>
            <a:r>
              <a:rPr lang="ko-KR" altLang="en-US" dirty="0"/>
              <a:t>분석</a:t>
            </a:r>
            <a:endParaRPr lang="en-US" altLang="ko-KR" dirty="0"/>
          </a:p>
          <a:p>
            <a:pPr lvl="3"/>
            <a:r>
              <a:rPr lang="en-US" altLang="ko-KR" dirty="0"/>
              <a:t>100</a:t>
            </a:r>
            <a:r>
              <a:rPr lang="ko-KR" altLang="en-US" dirty="0"/>
              <a:t> </a:t>
            </a:r>
            <a:r>
              <a:rPr lang="en-US" altLang="ko-KR" dirty="0"/>
              <a:t>step</a:t>
            </a:r>
            <a:r>
              <a:rPr lang="ko-KR" altLang="en-US" dirty="0"/>
              <a:t>에서 </a:t>
            </a:r>
            <a:r>
              <a:rPr lang="en-US" altLang="ko-KR" dirty="0"/>
              <a:t>cycle </a:t>
            </a:r>
            <a:r>
              <a:rPr lang="ko-KR" altLang="en-US" dirty="0"/>
              <a:t>별 최고 성능을 기록한 횟수가 가장 많음</a:t>
            </a:r>
            <a:endParaRPr lang="en-US" altLang="ko-KR" dirty="0"/>
          </a:p>
          <a:p>
            <a:pPr lvl="4"/>
            <a:r>
              <a:rPr lang="ko-KR" altLang="en-US" dirty="0"/>
              <a:t>가장 가벼운 모델임에도 불구하고 좋은 성능을 발휘하는 </a:t>
            </a:r>
            <a:r>
              <a:rPr lang="en-US" altLang="ko-KR" dirty="0"/>
              <a:t>100 step</a:t>
            </a:r>
            <a:r>
              <a:rPr lang="ko-KR" altLang="en-US" dirty="0"/>
              <a:t>을 최적의 </a:t>
            </a:r>
            <a:r>
              <a:rPr lang="en-US" altLang="ko-KR" dirty="0"/>
              <a:t>gradient step</a:t>
            </a:r>
            <a:r>
              <a:rPr lang="ko-KR" altLang="en-US" dirty="0"/>
              <a:t>으로 판단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9412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F3A349-E10A-9202-EFF6-21CB19F04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토의 및 결론</a:t>
            </a:r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29B33A-7CF3-8B63-4F00-9450559FE946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ko-KR" altLang="en-US" dirty="0"/>
              <a:t>보완 및 개선사항</a:t>
            </a:r>
            <a:endParaRPr lang="en-US" altLang="ko-KR" dirty="0"/>
          </a:p>
          <a:p>
            <a:pPr lvl="1"/>
            <a:r>
              <a:rPr lang="en-US" dirty="0"/>
              <a:t>DQN </a:t>
            </a:r>
            <a:r>
              <a:rPr lang="ko-KR" altLang="en-US" dirty="0"/>
              <a:t>기반 </a:t>
            </a:r>
            <a:r>
              <a:rPr lang="en-US" altLang="ko-KR" dirty="0"/>
              <a:t>sampling</a:t>
            </a:r>
            <a:r>
              <a:rPr lang="ko-KR" altLang="en-US" dirty="0"/>
              <a:t>의 문제점</a:t>
            </a:r>
            <a:endParaRPr lang="en-US" altLang="ko-KR" dirty="0"/>
          </a:p>
          <a:p>
            <a:pPr lvl="2"/>
            <a:r>
              <a:rPr lang="en-US" dirty="0"/>
              <a:t>Sampling</a:t>
            </a:r>
            <a:r>
              <a:rPr lang="ko-KR" altLang="en-US" dirty="0"/>
              <a:t>을 위한 모델 </a:t>
            </a:r>
            <a:r>
              <a:rPr lang="en-US" altLang="ko-KR" dirty="0"/>
              <a:t>(DQN) </a:t>
            </a:r>
            <a:r>
              <a:rPr lang="ko-KR" altLang="en-US" dirty="0"/>
              <a:t>자체가 학습이 필요한 설계</a:t>
            </a:r>
            <a:endParaRPr lang="en-US" altLang="ko-KR" dirty="0"/>
          </a:p>
          <a:p>
            <a:pPr marL="174625" lvl="2" indent="0">
              <a:buNone/>
            </a:pPr>
            <a:r>
              <a:rPr lang="ko-KR" altLang="en-US" dirty="0"/>
              <a:t>→ 초반 </a:t>
            </a:r>
            <a:r>
              <a:rPr lang="en-US" altLang="ko-KR" dirty="0"/>
              <a:t>sampling </a:t>
            </a:r>
            <a:r>
              <a:rPr lang="ko-KR" altLang="en-US" dirty="0"/>
              <a:t>시 성능 향상폭이 </a:t>
            </a:r>
            <a:r>
              <a:rPr lang="en-US" altLang="ko-KR" dirty="0"/>
              <a:t>random sampling</a:t>
            </a:r>
            <a:r>
              <a:rPr lang="ko-KR" altLang="en-US" dirty="0"/>
              <a:t>보다도 떨어지는 문제가 발생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해결 방안</a:t>
            </a:r>
            <a:endParaRPr lang="en-US" altLang="ko-KR" dirty="0"/>
          </a:p>
          <a:p>
            <a:pPr lvl="2"/>
            <a:r>
              <a:rPr lang="en-US" altLang="ko-KR" dirty="0"/>
              <a:t>Unlabeled set</a:t>
            </a:r>
            <a:r>
              <a:rPr lang="ko-KR" altLang="en-US" dirty="0"/>
              <a:t>과 </a:t>
            </a:r>
            <a:r>
              <a:rPr lang="en-US" altLang="ko-KR" dirty="0"/>
              <a:t>labeled set </a:t>
            </a:r>
            <a:r>
              <a:rPr lang="ko-KR" altLang="en-US" dirty="0"/>
              <a:t>사이의 정보량 차이에 집중하는 기존의 </a:t>
            </a:r>
            <a:r>
              <a:rPr lang="en-US" altLang="ko-KR" dirty="0"/>
              <a:t>uncertainty-based</a:t>
            </a:r>
            <a:r>
              <a:rPr lang="ko-KR" altLang="en-US" dirty="0"/>
              <a:t> </a:t>
            </a:r>
            <a:r>
              <a:rPr lang="en-US" altLang="ko-KR" dirty="0"/>
              <a:t>heuristic AL* </a:t>
            </a:r>
            <a:r>
              <a:rPr lang="ko-KR" altLang="en-US" dirty="0"/>
              <a:t>기법들과 접목 시</a:t>
            </a:r>
            <a:r>
              <a:rPr lang="en-US" altLang="ko-KR" dirty="0"/>
              <a:t>, </a:t>
            </a:r>
            <a:r>
              <a:rPr lang="ko-KR" altLang="en-US" dirty="0"/>
              <a:t>초반 </a:t>
            </a:r>
            <a:r>
              <a:rPr lang="en-US" altLang="ko-KR" dirty="0"/>
              <a:t>cycle</a:t>
            </a:r>
            <a:r>
              <a:rPr lang="ko-KR" altLang="en-US" dirty="0"/>
              <a:t>에서 나타나는 성능 향상 폭 저하 문제를 해결 가능할 것으로 예상</a:t>
            </a:r>
            <a:endParaRPr lang="en-US" altLang="ko-KR" dirty="0"/>
          </a:p>
          <a:p>
            <a:pPr marL="174625" lvl="2" indent="0">
              <a:buNone/>
            </a:pPr>
            <a:r>
              <a:rPr lang="ko-KR" altLang="en-US" dirty="0"/>
              <a:t>→ </a:t>
            </a:r>
            <a:r>
              <a:rPr lang="en-US" altLang="ko-KR" dirty="0"/>
              <a:t>Entropy </a:t>
            </a:r>
            <a:r>
              <a:rPr lang="ko-KR" altLang="en-US" dirty="0"/>
              <a:t>외에 추가적으로 계산된 불확실성 </a:t>
            </a:r>
            <a:r>
              <a:rPr lang="en-US" altLang="ko-KR" dirty="0"/>
              <a:t>(uncertainty)</a:t>
            </a:r>
            <a:r>
              <a:rPr lang="ko-KR" altLang="en-US" dirty="0"/>
              <a:t>을 활용한 </a:t>
            </a:r>
            <a:r>
              <a:rPr lang="en-US" altLang="ko-KR" dirty="0"/>
              <a:t>state</a:t>
            </a:r>
            <a:r>
              <a:rPr lang="ko-KR" altLang="en-US" dirty="0"/>
              <a:t> 정의 가능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336C68-EF63-9573-7237-628D8F2FCC7C}"/>
              </a:ext>
            </a:extLst>
          </p:cNvPr>
          <p:cNvSpPr txBox="1"/>
          <p:nvPr/>
        </p:nvSpPr>
        <p:spPr>
          <a:xfrm>
            <a:off x="0" y="6237976"/>
            <a:ext cx="990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* </a:t>
            </a:r>
            <a:r>
              <a:rPr lang="ko-KR" altLang="en-US" sz="800" dirty="0">
                <a:latin typeface="+mn-ea"/>
                <a:ea typeface="+mn-ea"/>
              </a:rPr>
              <a:t>전주현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박재현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박주원</a:t>
            </a:r>
            <a:r>
              <a:rPr lang="en-US" altLang="ko-KR" sz="800" dirty="0">
                <a:latin typeface="+mn-ea"/>
                <a:ea typeface="+mn-ea"/>
              </a:rPr>
              <a:t>, </a:t>
            </a:r>
            <a:r>
              <a:rPr lang="ko-KR" altLang="en-US" sz="800" dirty="0">
                <a:latin typeface="+mn-ea"/>
                <a:ea typeface="+mn-ea"/>
              </a:rPr>
              <a:t>조성인</a:t>
            </a:r>
            <a:r>
              <a:rPr lang="en-US" altLang="ko-KR" sz="800" dirty="0">
                <a:latin typeface="+mn-ea"/>
                <a:ea typeface="+mn-ea"/>
              </a:rPr>
              <a:t>, "</a:t>
            </a:r>
            <a:r>
              <a:rPr lang="ko-KR" altLang="en-US" sz="800" dirty="0">
                <a:latin typeface="+mn-ea"/>
                <a:ea typeface="+mn-ea"/>
              </a:rPr>
              <a:t>이미지 분류에서의 액티브 러닝 기술의 동향 분석</a:t>
            </a:r>
            <a:r>
              <a:rPr lang="en-US" altLang="ko-KR" sz="800" dirty="0">
                <a:latin typeface="+mn-ea"/>
                <a:ea typeface="+mn-ea"/>
              </a:rPr>
              <a:t>," </a:t>
            </a:r>
            <a:r>
              <a:rPr lang="ko-KR" altLang="en-US" sz="800" dirty="0">
                <a:latin typeface="+mn-ea"/>
                <a:ea typeface="+mn-ea"/>
              </a:rPr>
              <a:t>인공지능신호처리 학술대회</a:t>
            </a:r>
            <a:r>
              <a:rPr lang="en-US" altLang="ko-KR" sz="800" dirty="0">
                <a:latin typeface="+mn-ea"/>
                <a:ea typeface="+mn-ea"/>
              </a:rPr>
              <a:t>, 2024, pp.</a:t>
            </a:r>
            <a:r>
              <a:rPr lang="ko-KR" altLang="en-US" sz="800" dirty="0">
                <a:latin typeface="+mn-ea"/>
                <a:ea typeface="+mn-ea"/>
              </a:rPr>
              <a:t> </a:t>
            </a:r>
            <a:r>
              <a:rPr lang="en-US" altLang="ko-KR" sz="800" dirty="0">
                <a:latin typeface="+mn-ea"/>
                <a:ea typeface="+mn-ea"/>
              </a:rPr>
              <a:t>19-22.</a:t>
            </a:r>
            <a:endParaRPr lang="ko-KR" altLang="en-US" sz="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41001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60B72-67E3-93DC-67A8-AD802B53D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9525" y="2204830"/>
            <a:ext cx="7056980" cy="2038545"/>
          </a:xfrm>
        </p:spPr>
        <p:txBody>
          <a:bodyPr/>
          <a:lstStyle/>
          <a:p>
            <a:r>
              <a:rPr 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Thank</a:t>
            </a:r>
            <a:r>
              <a:rPr lang="ko-KR" altLang="en-US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you !</a:t>
            </a:r>
            <a:endParaRPr 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540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595B9-7FD8-925A-61BE-EBD2BBC6A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D93AB2-E318-D41F-16FB-04565D3E0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349F53-C3E2-C886-6807-BFAB08D71910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ko-KR" altLang="en-US" dirty="0"/>
              <a:t>팀원 별 기여 사항</a:t>
            </a:r>
            <a:endParaRPr lang="en-US" altLang="ko-KR" dirty="0"/>
          </a:p>
          <a:p>
            <a:pPr lvl="1"/>
            <a:r>
              <a:rPr lang="ko-KR" altLang="en-US" dirty="0"/>
              <a:t>박윤서</a:t>
            </a:r>
            <a:endParaRPr lang="en-US" altLang="ko-KR" dirty="0"/>
          </a:p>
          <a:p>
            <a:pPr lvl="2"/>
            <a:r>
              <a:rPr lang="en-US" altLang="ko-KR" dirty="0"/>
              <a:t>DQN </a:t>
            </a:r>
            <a:r>
              <a:rPr lang="ko-KR" altLang="en-US" dirty="0"/>
              <a:t>알고리즘 구현</a:t>
            </a:r>
            <a:endParaRPr lang="en-US" altLang="ko-KR" dirty="0"/>
          </a:p>
          <a:p>
            <a:pPr lvl="2"/>
            <a:r>
              <a:rPr lang="ko-KR" altLang="en-US" dirty="0"/>
              <a:t>실험 결과 정리 및 그래프 제작</a:t>
            </a:r>
            <a:endParaRPr lang="en-US" altLang="ko-KR" dirty="0"/>
          </a:p>
          <a:p>
            <a:pPr lvl="2"/>
            <a:r>
              <a:rPr lang="en-US" altLang="ko-KR" dirty="0"/>
              <a:t>PPT </a:t>
            </a:r>
            <a:r>
              <a:rPr lang="ko-KR" altLang="en-US" dirty="0"/>
              <a:t>틀 제작 및 </a:t>
            </a:r>
            <a:r>
              <a:rPr lang="en-US" altLang="ko-KR" dirty="0"/>
              <a:t>README </a:t>
            </a:r>
            <a:r>
              <a:rPr lang="ko-KR" altLang="en-US" dirty="0"/>
              <a:t>개선</a:t>
            </a:r>
            <a:endParaRPr lang="en-US" altLang="ko-KR" dirty="0"/>
          </a:p>
          <a:p>
            <a:pPr lvl="2"/>
            <a:r>
              <a:rPr lang="en-US" altLang="ko-KR" dirty="0"/>
              <a:t>DQN </a:t>
            </a:r>
            <a:r>
              <a:rPr lang="ko-KR" altLang="en-US" dirty="0"/>
              <a:t>알고리즘 설명 자료 작성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박주원</a:t>
            </a:r>
            <a:endParaRPr lang="en-US" altLang="ko-KR" dirty="0"/>
          </a:p>
          <a:p>
            <a:pPr lvl="2"/>
            <a:r>
              <a:rPr lang="ko-KR" altLang="en-US" dirty="0"/>
              <a:t>주제 제시 및 기본 </a:t>
            </a:r>
            <a:r>
              <a:rPr lang="en-US" altLang="ko-KR" dirty="0"/>
              <a:t>AL </a:t>
            </a:r>
            <a:r>
              <a:rPr lang="ko-KR" altLang="en-US" dirty="0"/>
              <a:t>알고리즘 구현</a:t>
            </a:r>
            <a:endParaRPr lang="en-US" dirty="0"/>
          </a:p>
          <a:p>
            <a:pPr lvl="2"/>
            <a:r>
              <a:rPr lang="en-US" dirty="0"/>
              <a:t>DQN </a:t>
            </a:r>
            <a:r>
              <a:rPr lang="ko-KR" altLang="en-US" dirty="0"/>
              <a:t>알고리즘 구현</a:t>
            </a:r>
            <a:endParaRPr lang="en-US" altLang="ko-KR" dirty="0"/>
          </a:p>
          <a:p>
            <a:pPr lvl="2"/>
            <a:r>
              <a:rPr lang="ko-KR" altLang="en-US" dirty="0"/>
              <a:t>실험 결과 정리 및 분석</a:t>
            </a:r>
            <a:endParaRPr lang="en-US" altLang="ko-KR" dirty="0"/>
          </a:p>
          <a:p>
            <a:pPr lvl="2"/>
            <a:r>
              <a:rPr lang="en-US" dirty="0"/>
              <a:t>README </a:t>
            </a:r>
            <a:r>
              <a:rPr lang="ko-KR" altLang="en-US" dirty="0"/>
              <a:t>틀 제작 및 </a:t>
            </a:r>
            <a:r>
              <a:rPr lang="en-US" altLang="ko-KR" dirty="0"/>
              <a:t>PPT </a:t>
            </a:r>
            <a:r>
              <a:rPr lang="ko-KR" altLang="en-US" dirty="0"/>
              <a:t>개선</a:t>
            </a:r>
            <a:endParaRPr lang="en-US" altLang="ko-KR" dirty="0"/>
          </a:p>
          <a:p>
            <a:pPr lvl="2"/>
            <a:r>
              <a:rPr lang="en-US" dirty="0"/>
              <a:t>AL </a:t>
            </a:r>
            <a:r>
              <a:rPr lang="ko-KR" altLang="en-US" dirty="0"/>
              <a:t>알고리즘 설명 자료 작성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8423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62.9547"/>
  <p:tag name="ORIGINALWIDTH" val="1501.312"/>
  <p:tag name="LATEXADDIN" val="\documentclass{article}&#10;\usepackage{amsfonts}&#10;\usepackage{amsmath}&#10;\pagestyle{empty}&#10;\begin{document}&#10;\begin{align*}&#10;\mathcal{L} = \frac{1}{B} \sum_{i=1}^{B} \bigl(Q_{\theta}(s_i, a_i) - r_i\bigr)^2&#10;\end{align*}&#10;\end{document}"/>
  <p:tag name="IGUANATEXSIZE" val="20"/>
  <p:tag name="IGUANATEXCURSOR" val="198"/>
  <p:tag name="TRANSPARENCY" val="True"/>
  <p:tag name="LATEXENGINEID" val="0"/>
  <p:tag name="TEMPFOLDER" val="c:\temp\"/>
  <p:tag name="LATEXFORMHEIGHT" val="423.75"/>
  <p:tag name="LATEXFORMWIDTH" val="988.5"/>
  <p:tag name="LATEXFORMWRAP" val="True"/>
  <p:tag name="BITMAPVECTOR" val="0"/>
</p:tagLst>
</file>

<file path=ppt/theme/theme1.xml><?xml version="1.0" encoding="utf-8"?>
<a:theme xmlns:a="http://schemas.openxmlformats.org/drawingml/2006/main" name="Default Theme">
  <a:themeElements>
    <a:clrScheme name="회색조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사용자 지정 2">
      <a:majorFont>
        <a:latin typeface="Tahoma"/>
        <a:ea typeface="Tahoma"/>
        <a:cs typeface=""/>
      </a:majorFont>
      <a:minorFont>
        <a:latin typeface="나눔스퀘어"/>
        <a:ea typeface="나눔스퀘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/>
          </a:solidFill>
        </a:ln>
      </a:spPr>
      <a:bodyPr rtlCol="0" anchor="ctr"/>
      <a:lstStyle>
        <a:defPPr algn="ctr">
          <a:defRPr sz="14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smtClean="0">
            <a:latin typeface="+mn-lt"/>
            <a:ea typeface="+mn-ea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86080</TotalTime>
  <Words>2555</Words>
  <Application>Microsoft Office PowerPoint</Application>
  <PresentationFormat>A4 용지(210x297mm)</PresentationFormat>
  <Paragraphs>572</Paragraphs>
  <Slides>26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40" baseType="lpstr">
      <vt:lpstr>LG스마트체 Regular</vt:lpstr>
      <vt:lpstr>LG스마트체2.0 Bold</vt:lpstr>
      <vt:lpstr>LG스마트체2.0 Regular</vt:lpstr>
      <vt:lpstr>나눔스퀘어</vt:lpstr>
      <vt:lpstr>나눔스퀘어 ExtraBold</vt:lpstr>
      <vt:lpstr>맑은 고딕</vt:lpstr>
      <vt:lpstr>Arial</vt:lpstr>
      <vt:lpstr>Cambria Math</vt:lpstr>
      <vt:lpstr>Consolas</vt:lpstr>
      <vt:lpstr>Tahoma</vt:lpstr>
      <vt:lpstr>times</vt:lpstr>
      <vt:lpstr>Times New Roman</vt:lpstr>
      <vt:lpstr>Wingdings</vt:lpstr>
      <vt:lpstr>Default Theme</vt:lpstr>
      <vt:lpstr>[2025-2 강화학습 프로젝트] Active Learning for Image Classification  with Reinforcement Learning</vt:lpstr>
      <vt:lpstr>Contents</vt:lpstr>
      <vt:lpstr>프로젝트 주제 및 목표</vt:lpstr>
      <vt:lpstr>프로젝트 주제 및 목표</vt:lpstr>
      <vt:lpstr>프로젝트 주제 및 목표</vt:lpstr>
      <vt:lpstr>환경 및 데이터셋</vt:lpstr>
      <vt:lpstr>환경 및 데이터셋</vt:lpstr>
      <vt:lpstr>환경 및 데이터셋</vt:lpstr>
      <vt:lpstr>환경 및 데이터셋</vt:lpstr>
      <vt:lpstr>강화학습 알고리즘</vt:lpstr>
      <vt:lpstr>강화학습 알고리즘</vt:lpstr>
      <vt:lpstr>강화학습 알고리즘</vt:lpstr>
      <vt:lpstr>강화학습 알고리즘</vt:lpstr>
      <vt:lpstr>강화학습 알고리즘</vt:lpstr>
      <vt:lpstr>실험 셋업</vt:lpstr>
      <vt:lpstr>실험 셋업</vt:lpstr>
      <vt:lpstr>실험 결과 </vt:lpstr>
      <vt:lpstr>실험 결과 </vt:lpstr>
      <vt:lpstr>실험 결과 </vt:lpstr>
      <vt:lpstr>실험 결과 </vt:lpstr>
      <vt:lpstr>실험 결과 </vt:lpstr>
      <vt:lpstr>토의 및 결론</vt:lpstr>
      <vt:lpstr>토의 및 결론</vt:lpstr>
      <vt:lpstr>토의 및 결론</vt:lpstr>
      <vt:lpstr>Thank you !</vt:lpstr>
      <vt:lpstr>Appendix</vt:lpstr>
    </vt:vector>
  </TitlesOfParts>
  <Company>LGDispaly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세미나자료</dc:title>
  <dc:creator>조성인</dc:creator>
  <cp:lastModifiedBy>박주원</cp:lastModifiedBy>
  <cp:revision>4058</cp:revision>
  <cp:lastPrinted>2016-01-14T08:35:52Z</cp:lastPrinted>
  <dcterms:created xsi:type="dcterms:W3CDTF">2012-08-21T00:45:57Z</dcterms:created>
  <dcterms:modified xsi:type="dcterms:W3CDTF">2025-12-07T04:35:24Z</dcterms:modified>
</cp:coreProperties>
</file>